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58" r:id="rId4"/>
    <p:sldId id="259" r:id="rId5"/>
    <p:sldId id="260" r:id="rId6"/>
    <p:sldId id="261" r:id="rId7"/>
    <p:sldId id="262" r:id="rId8"/>
    <p:sldId id="263" r:id="rId9"/>
    <p:sldId id="264" r:id="rId10"/>
    <p:sldId id="265" r:id="rId11"/>
    <p:sldId id="268" r:id="rId12"/>
    <p:sldId id="266" r:id="rId13"/>
    <p:sldId id="267" r:id="rId14"/>
    <p:sldId id="269"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FFD1"/>
    <a:srgbClr val="FF8837"/>
    <a:srgbClr val="FF6600"/>
    <a:srgbClr val="FFEBFF"/>
    <a:srgbClr val="FFDDFF"/>
    <a:srgbClr val="0033CC"/>
    <a:srgbClr val="67CFE7"/>
    <a:srgbClr val="F973E9"/>
    <a:srgbClr val="66FF66"/>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5" autoAdjust="0"/>
    <p:restoredTop sz="94660"/>
  </p:normalViewPr>
  <p:slideViewPr>
    <p:cSldViewPr snapToGrid="0">
      <p:cViewPr varScale="1">
        <p:scale>
          <a:sx n="64" d="100"/>
          <a:sy n="64" d="100"/>
        </p:scale>
        <p:origin x="90"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esktop\4000%20screening%20data-edi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esktop\4000%20screening%20data-edi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Desktop\4000%20screening%20data-edi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esktop\4000%20screening%20data-edi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esktop\4000%20screening%20data-edi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Desktop\4000%20screening%20data-edi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Desktop\4000%20screening%20data-edi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Desktop\4000%20screening%20data-edit.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User\Desktop\4000%20screening%20data-edit.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User\Desktop\4000%20screening%20data-edit.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User\Desktop\4000%20screening%20data-edit.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[4000 screening data-edit.xlsx]Sheet1!PivotTable3</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Percentage</a:t>
            </a:r>
            <a:r>
              <a:rPr lang="en-US" baseline="0" dirty="0"/>
              <a:t> of Child Coverage</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30320637451741655"/>
          <c:y val="0.18560185185185185"/>
          <c:w val="0.62900086021141122"/>
          <c:h val="0.62271617089530473"/>
        </c:manualLayout>
      </c:layout>
      <c:barChart>
        <c:barDir val="bar"/>
        <c:grouping val="clustered"/>
        <c:varyColors val="0"/>
        <c:ser>
          <c:idx val="0"/>
          <c:order val="0"/>
          <c:tx>
            <c:strRef>
              <c:f>Sheet1!$E$11</c:f>
              <c:strCache>
                <c:ptCount val="1"/>
                <c:pt idx="0">
                  <c:v>Total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Sheet1!$D$12:$D$16</c:f>
              <c:strCache>
                <c:ptCount val="4"/>
                <c:pt idx="0">
                  <c:v>JAMMU AND KASHMIR</c:v>
                </c:pt>
                <c:pt idx="1">
                  <c:v>JHARKHAND</c:v>
                </c:pt>
                <c:pt idx="2">
                  <c:v>MANIPUR</c:v>
                </c:pt>
                <c:pt idx="3">
                  <c:v>WEST BENGAL</c:v>
                </c:pt>
              </c:strCache>
            </c:strRef>
          </c:cat>
          <c:val>
            <c:numRef>
              <c:f>Sheet1!$E$12:$E$16</c:f>
              <c:numCache>
                <c:formatCode>0.00%</c:formatCode>
                <c:ptCount val="4"/>
                <c:pt idx="0">
                  <c:v>0.14124999999999999</c:v>
                </c:pt>
                <c:pt idx="1">
                  <c:v>0.17499999999999999</c:v>
                </c:pt>
                <c:pt idx="2">
                  <c:v>0.25</c:v>
                </c:pt>
                <c:pt idx="3">
                  <c:v>0.43375000000000002</c:v>
                </c:pt>
              </c:numCache>
            </c:numRef>
          </c:val>
          <c:extLst>
            <c:ext xmlns:c16="http://schemas.microsoft.com/office/drawing/2014/chart" uri="{C3380CC4-5D6E-409C-BE32-E72D297353CC}">
              <c16:uniqueId val="{00000000-FE1F-411A-9123-AA8FCC46A079}"/>
            </c:ext>
          </c:extLst>
        </c:ser>
        <c:dLbls>
          <c:dLblPos val="outEnd"/>
          <c:showLegendKey val="0"/>
          <c:showVal val="1"/>
          <c:showCatName val="0"/>
          <c:showSerName val="0"/>
          <c:showPercent val="0"/>
          <c:showBubbleSize val="0"/>
        </c:dLbls>
        <c:gapWidth val="182"/>
        <c:axId val="987994656"/>
        <c:axId val="987993408"/>
      </c:barChart>
      <c:catAx>
        <c:axId val="987994656"/>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States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7993408"/>
        <c:crosses val="autoZero"/>
        <c:auto val="1"/>
        <c:lblAlgn val="ctr"/>
        <c:lblOffset val="100"/>
        <c:noMultiLvlLbl val="0"/>
      </c:catAx>
      <c:valAx>
        <c:axId val="9879934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 of children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79946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40000"/>
        <a:lumOff val="6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[4000 screening data-edit.xlsx]Sheet1!PivotTable4</c:name>
    <c:fmtId val="5"/>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dirty="0"/>
              <a:t>Sex</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pivotFmt>
      <c:pivotFmt>
        <c:idx val="3"/>
      </c:pivotFmt>
      <c:pivotFmt>
        <c:idx val="4"/>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6"/>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7"/>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9"/>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2"/>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s>
    <c:plotArea>
      <c:layout>
        <c:manualLayout>
          <c:layoutTarget val="inner"/>
          <c:xMode val="edge"/>
          <c:yMode val="edge"/>
          <c:x val="0.16749539700248223"/>
          <c:y val="0.29425031951270292"/>
          <c:w val="0.46743971782957477"/>
          <c:h val="0.64883425225064462"/>
        </c:manualLayout>
      </c:layout>
      <c:pieChart>
        <c:varyColors val="1"/>
        <c:ser>
          <c:idx val="0"/>
          <c:order val="0"/>
          <c:tx>
            <c:strRef>
              <c:f>Sheet1!$E$19</c:f>
              <c:strCache>
                <c:ptCount val="1"/>
                <c:pt idx="0">
                  <c:v>Total</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B959-4A6C-AA77-68FE7615397B}"/>
              </c:ext>
            </c:extLst>
          </c:dPt>
          <c:dPt>
            <c:idx val="1"/>
            <c:bubble3D val="0"/>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B959-4A6C-AA77-68FE7615397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Sheet1!$D$20:$D$22</c:f>
              <c:strCache>
                <c:ptCount val="2"/>
                <c:pt idx="0">
                  <c:v>FEMALE</c:v>
                </c:pt>
                <c:pt idx="1">
                  <c:v>MALE</c:v>
                </c:pt>
              </c:strCache>
            </c:strRef>
          </c:cat>
          <c:val>
            <c:numRef>
              <c:f>Sheet1!$E$20:$E$22</c:f>
              <c:numCache>
                <c:formatCode>0.00%</c:formatCode>
                <c:ptCount val="2"/>
                <c:pt idx="0">
                  <c:v>0.52900000000000003</c:v>
                </c:pt>
                <c:pt idx="1">
                  <c:v>0.47099999999999997</c:v>
                </c:pt>
              </c:numCache>
            </c:numRef>
          </c:val>
          <c:extLst>
            <c:ext xmlns:c16="http://schemas.microsoft.com/office/drawing/2014/chart" uri="{C3380CC4-5D6E-409C-BE32-E72D297353CC}">
              <c16:uniqueId val="{00000004-B959-4A6C-AA77-68FE7615397B}"/>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78268553950423636"/>
          <c:y val="0.39532334499854183"/>
          <c:w val="0.21389227888462747"/>
          <c:h val="0.2534733158355205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5">
        <a:lumMod val="40000"/>
        <a:lumOff val="6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[4000 screening data-edit.xlsx]Sheet1!PivotTable5</c:name>
    <c:fmtId val="16"/>
  </c:pivotSource>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dirty="0" err="1"/>
              <a:t>Statewise</a:t>
            </a:r>
            <a:r>
              <a:rPr lang="en-US" dirty="0"/>
              <a:t> Gender Division</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alpha val="85000"/>
            </a:schemeClr>
          </a:solidFill>
          <a:ln w="9525" cap="flat" cmpd="sng" algn="ctr">
            <a:solidFill>
              <a:schemeClr val="accent6">
                <a:lumMod val="75000"/>
              </a:schemeClr>
            </a:solidFill>
            <a:round/>
          </a:ln>
          <a:effectLst/>
          <a:sp3d contourW="9525">
            <a:contourClr>
              <a:schemeClr val="accent6">
                <a:lumMod val="75000"/>
              </a:schemeClr>
            </a:contourClr>
          </a:sp3d>
        </c:spPr>
        <c:marker>
          <c:symbol val="circle"/>
          <c:size val="6"/>
          <c:spPr>
            <a:solidFill>
              <a:schemeClr val="accent6">
                <a:alpha val="85000"/>
              </a:schemeClr>
            </a:solidFill>
            <a:ln w="9525">
              <a:no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6">
              <a:alpha val="85000"/>
            </a:schemeClr>
          </a:solidFill>
          <a:ln w="9525" cap="flat" cmpd="sng" algn="ctr">
            <a:solidFill>
              <a:schemeClr val="accent6">
                <a:lumMod val="75000"/>
              </a:schemeClr>
            </a:solidFill>
            <a:round/>
          </a:ln>
          <a:effectLst/>
          <a:sp3d contourW="9525">
            <a:contourClr>
              <a:schemeClr val="accent6">
                <a:lumMod val="75000"/>
              </a:schemeClr>
            </a:contourClr>
          </a:sp3d>
        </c:spPr>
        <c:marker>
          <c:symbol val="circle"/>
          <c:size val="6"/>
          <c:spPr>
            <a:solidFill>
              <a:schemeClr val="accent5">
                <a:alpha val="85000"/>
              </a:schemeClr>
            </a:solidFill>
            <a:ln w="9525">
              <a:no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6">
              <a:alpha val="85000"/>
            </a:schemeClr>
          </a:solidFill>
          <a:ln w="9525" cap="flat" cmpd="sng" algn="ctr">
            <a:solidFill>
              <a:schemeClr val="accent6">
                <a:lumMod val="75000"/>
              </a:schemeClr>
            </a:solidFill>
            <a:round/>
          </a:ln>
          <a:effectLst/>
          <a:sp3d contourW="9525">
            <a:contourClr>
              <a:schemeClr val="accent6">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6">
              <a:alpha val="85000"/>
            </a:schemeClr>
          </a:solidFill>
          <a:ln w="9525" cap="flat" cmpd="sng" algn="ctr">
            <a:solidFill>
              <a:schemeClr val="accent6">
                <a:lumMod val="75000"/>
              </a:schemeClr>
            </a:solidFill>
            <a:round/>
          </a:ln>
          <a:effectLst/>
          <a:sp3d contourW="9525">
            <a:contourClr>
              <a:schemeClr val="accent6">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6">
              <a:alpha val="85000"/>
            </a:schemeClr>
          </a:solidFill>
          <a:ln w="9525" cap="flat" cmpd="sng" algn="ctr">
            <a:solidFill>
              <a:schemeClr val="accent6">
                <a:lumMod val="75000"/>
              </a:schemeClr>
            </a:solidFill>
            <a:round/>
          </a:ln>
          <a:effectLst/>
          <a:sp3d contourW="9525">
            <a:contourClr>
              <a:schemeClr val="accent6">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6">
              <a:alpha val="85000"/>
            </a:schemeClr>
          </a:solidFill>
          <a:ln w="9525" cap="flat" cmpd="sng" algn="ctr">
            <a:solidFill>
              <a:schemeClr val="accent6">
                <a:lumMod val="75000"/>
              </a:schemeClr>
            </a:solidFill>
            <a:round/>
          </a:ln>
          <a:effectLst/>
          <a:sp3d contourW="9525">
            <a:contourClr>
              <a:schemeClr val="accent6">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Sheet1!$E$58:$E$59</c:f>
              <c:strCache>
                <c:ptCount val="1"/>
                <c:pt idx="0">
                  <c:v>FEMALE</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Sheet1!$D$60:$D$64</c:f>
              <c:strCache>
                <c:ptCount val="4"/>
                <c:pt idx="0">
                  <c:v>JAMMU AND KASHMIR</c:v>
                </c:pt>
                <c:pt idx="1">
                  <c:v>JHARKHAND</c:v>
                </c:pt>
                <c:pt idx="2">
                  <c:v>MANIPUR</c:v>
                </c:pt>
                <c:pt idx="3">
                  <c:v>WEST BENGAL</c:v>
                </c:pt>
              </c:strCache>
            </c:strRef>
          </c:cat>
          <c:val>
            <c:numRef>
              <c:f>Sheet1!$E$60:$E$64</c:f>
              <c:numCache>
                <c:formatCode>0.00%</c:formatCode>
                <c:ptCount val="4"/>
                <c:pt idx="0">
                  <c:v>7.1999999999999995E-2</c:v>
                </c:pt>
                <c:pt idx="1">
                  <c:v>8.4750000000000006E-2</c:v>
                </c:pt>
                <c:pt idx="2">
                  <c:v>0.1295</c:v>
                </c:pt>
                <c:pt idx="3">
                  <c:v>0.24274999999999999</c:v>
                </c:pt>
              </c:numCache>
            </c:numRef>
          </c:val>
          <c:extLst>
            <c:ext xmlns:c16="http://schemas.microsoft.com/office/drawing/2014/chart" uri="{C3380CC4-5D6E-409C-BE32-E72D297353CC}">
              <c16:uniqueId val="{00000000-3D36-41B5-AC13-AAAB4626DDF2}"/>
            </c:ext>
          </c:extLst>
        </c:ser>
        <c:ser>
          <c:idx val="1"/>
          <c:order val="1"/>
          <c:tx>
            <c:strRef>
              <c:f>Sheet1!$F$58:$F$59</c:f>
              <c:strCache>
                <c:ptCount val="1"/>
                <c:pt idx="0">
                  <c:v>MALE</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Sheet1!$D$60:$D$64</c:f>
              <c:strCache>
                <c:ptCount val="4"/>
                <c:pt idx="0">
                  <c:v>JAMMU AND KASHMIR</c:v>
                </c:pt>
                <c:pt idx="1">
                  <c:v>JHARKHAND</c:v>
                </c:pt>
                <c:pt idx="2">
                  <c:v>MANIPUR</c:v>
                </c:pt>
                <c:pt idx="3">
                  <c:v>WEST BENGAL</c:v>
                </c:pt>
              </c:strCache>
            </c:strRef>
          </c:cat>
          <c:val>
            <c:numRef>
              <c:f>Sheet1!$F$60:$F$64</c:f>
              <c:numCache>
                <c:formatCode>0.00%</c:formatCode>
                <c:ptCount val="4"/>
                <c:pt idx="0">
                  <c:v>6.9250000000000006E-2</c:v>
                </c:pt>
                <c:pt idx="1">
                  <c:v>9.0249999999999997E-2</c:v>
                </c:pt>
                <c:pt idx="2">
                  <c:v>0.1205</c:v>
                </c:pt>
                <c:pt idx="3">
                  <c:v>0.191</c:v>
                </c:pt>
              </c:numCache>
            </c:numRef>
          </c:val>
          <c:extLst>
            <c:ext xmlns:c16="http://schemas.microsoft.com/office/drawing/2014/chart" uri="{C3380CC4-5D6E-409C-BE32-E72D297353CC}">
              <c16:uniqueId val="{00000001-3D36-41B5-AC13-AAAB4626DDF2}"/>
            </c:ext>
          </c:extLst>
        </c:ser>
        <c:dLbls>
          <c:showLegendKey val="0"/>
          <c:showVal val="1"/>
          <c:showCatName val="0"/>
          <c:showSerName val="0"/>
          <c:showPercent val="0"/>
          <c:showBubbleSize val="0"/>
        </c:dLbls>
        <c:gapWidth val="150"/>
        <c:shape val="box"/>
        <c:axId val="1092921279"/>
        <c:axId val="1092937919"/>
        <c:axId val="687333439"/>
      </c:bar3DChart>
      <c:catAx>
        <c:axId val="1092921279"/>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92937919"/>
        <c:crosses val="autoZero"/>
        <c:auto val="1"/>
        <c:lblAlgn val="ctr"/>
        <c:lblOffset val="100"/>
        <c:noMultiLvlLbl val="0"/>
      </c:catAx>
      <c:valAx>
        <c:axId val="1092937919"/>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92921279"/>
        <c:crosses val="autoZero"/>
        <c:crossBetween val="between"/>
      </c:valAx>
      <c:serAx>
        <c:axId val="687333439"/>
        <c:scaling>
          <c:orientation val="minMax"/>
        </c:scaling>
        <c:delete val="1"/>
        <c:axPos val="b"/>
        <c:majorTickMark val="none"/>
        <c:minorTickMark val="none"/>
        <c:tickLblPos val="nextTo"/>
        <c:crossAx val="1092937919"/>
        <c:crosses val="autoZero"/>
      </c:ser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6">
        <a:lumMod val="40000"/>
        <a:lumOff val="6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[4000 screening data-edit.xlsx]Sheet1!PivotTable6</c:name>
    <c:fmtId val="5"/>
  </c:pivotSource>
  <c:chart>
    <c:title>
      <c:tx>
        <c:rich>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r>
              <a:rPr lang="en-US" dirty="0"/>
              <a:t>Percentage of Caste Category</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pivotFmt>
      <c:pivotFmt>
        <c:idx val="3"/>
      </c:pivotFmt>
      <c:pivotFmt>
        <c:idx val="4"/>
      </c:pivotFmt>
      <c:pivotFmt>
        <c:idx val="5"/>
      </c:pivotFmt>
      <c:pivotFmt>
        <c:idx val="6"/>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9"/>
        <c:spPr>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0"/>
        <c:spPr>
          <a:gradFill rotWithShape="1">
            <a:gsLst>
              <a:gs pos="0">
                <a:schemeClr val="accent2">
                  <a:lumMod val="60000"/>
                  <a:shade val="51000"/>
                  <a:satMod val="130000"/>
                </a:schemeClr>
              </a:gs>
              <a:gs pos="80000">
                <a:schemeClr val="accent2">
                  <a:lumMod val="60000"/>
                  <a:shade val="93000"/>
                  <a:satMod val="130000"/>
                </a:schemeClr>
              </a:gs>
              <a:gs pos="100000">
                <a:schemeClr val="accent2">
                  <a:lumMod val="60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1"/>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3"/>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4"/>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5"/>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6"/>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8"/>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9"/>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2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Sheet1!$H$19</c:f>
              <c:strCache>
                <c:ptCount val="1"/>
                <c:pt idx="0">
                  <c:v>Total</c:v>
                </c:pt>
              </c:strCache>
            </c:strRef>
          </c:tx>
          <c:dPt>
            <c:idx val="0"/>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2F5E-4DBD-A55C-8DE2F04E6320}"/>
              </c:ext>
            </c:extLst>
          </c:dPt>
          <c:dPt>
            <c:idx val="1"/>
            <c:bubble3D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2F5E-4DBD-A55C-8DE2F04E6320}"/>
              </c:ext>
            </c:extLst>
          </c:dPt>
          <c:dPt>
            <c:idx val="2"/>
            <c:bubble3D val="0"/>
            <c:spPr>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2F5E-4DBD-A55C-8DE2F04E6320}"/>
              </c:ext>
            </c:extLst>
          </c:dPt>
          <c:dPt>
            <c:idx val="3"/>
            <c:bubble3D val="0"/>
            <c:spPr>
              <a:gradFill rotWithShape="1">
                <a:gsLst>
                  <a:gs pos="0">
                    <a:schemeClr val="accent2">
                      <a:lumMod val="60000"/>
                      <a:shade val="51000"/>
                      <a:satMod val="130000"/>
                    </a:schemeClr>
                  </a:gs>
                  <a:gs pos="80000">
                    <a:schemeClr val="accent2">
                      <a:lumMod val="60000"/>
                      <a:shade val="93000"/>
                      <a:satMod val="130000"/>
                    </a:schemeClr>
                  </a:gs>
                  <a:gs pos="100000">
                    <a:schemeClr val="accent2">
                      <a:lumMod val="60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7-2F5E-4DBD-A55C-8DE2F04E6320}"/>
              </c:ext>
            </c:extLst>
          </c:dPt>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Sheet1!$G$20:$G$24</c:f>
              <c:strCache>
                <c:ptCount val="4"/>
                <c:pt idx="0">
                  <c:v>GENERAL</c:v>
                </c:pt>
                <c:pt idx="1">
                  <c:v>OBC</c:v>
                </c:pt>
                <c:pt idx="2">
                  <c:v>SC</c:v>
                </c:pt>
                <c:pt idx="3">
                  <c:v>ST</c:v>
                </c:pt>
              </c:strCache>
            </c:strRef>
          </c:cat>
          <c:val>
            <c:numRef>
              <c:f>Sheet1!$H$20:$H$24</c:f>
              <c:numCache>
                <c:formatCode>0.00%</c:formatCode>
                <c:ptCount val="4"/>
                <c:pt idx="0">
                  <c:v>0.34449999999999997</c:v>
                </c:pt>
                <c:pt idx="1">
                  <c:v>0.1845</c:v>
                </c:pt>
                <c:pt idx="2">
                  <c:v>0.14874999999999999</c:v>
                </c:pt>
                <c:pt idx="3">
                  <c:v>0.32224999999999998</c:v>
                </c:pt>
              </c:numCache>
            </c:numRef>
          </c:val>
          <c:extLst>
            <c:ext xmlns:c16="http://schemas.microsoft.com/office/drawing/2014/chart" uri="{C3380CC4-5D6E-409C-BE32-E72D297353CC}">
              <c16:uniqueId val="{00000008-2F5E-4DBD-A55C-8DE2F04E6320}"/>
            </c:ext>
          </c:extLst>
        </c:ser>
        <c:dLbls>
          <c:dLblPos val="bestFit"/>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2">
        <a:lumMod val="60000"/>
        <a:lumOff val="40000"/>
      </a:schemeClr>
    </a:solid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[4000 screening data-edit.xlsx]Sheet1!PivotTable26</c:name>
    <c:fmtId val="6"/>
  </c:pivotSource>
  <c:chart>
    <c:title>
      <c:tx>
        <c:rich>
          <a:bodyPr rot="0" spcFirstLastPara="1" vertOverflow="ellipsis" vert="horz" wrap="square" anchor="ctr" anchorCtr="1"/>
          <a:lstStyle/>
          <a:p>
            <a:pPr>
              <a:defRPr sz="2800" b="0" i="0" u="none" strike="noStrike" kern="1200" cap="none" spc="0" normalizeH="0" baseline="0">
                <a:solidFill>
                  <a:schemeClr val="tx1">
                    <a:lumMod val="65000"/>
                    <a:lumOff val="35000"/>
                  </a:schemeClr>
                </a:solidFill>
                <a:latin typeface="+mj-lt"/>
                <a:ea typeface="+mj-ea"/>
                <a:cs typeface="+mj-cs"/>
              </a:defRPr>
            </a:pPr>
            <a:r>
              <a:rPr lang="en-US" sz="2800" dirty="0"/>
              <a:t>State-wise Caste Category</a:t>
            </a:r>
          </a:p>
        </c:rich>
      </c:tx>
      <c:overlay val="0"/>
      <c:spPr>
        <a:noFill/>
        <a:ln>
          <a:noFill/>
        </a:ln>
        <a:effectLst/>
      </c:spPr>
      <c:txPr>
        <a:bodyPr rot="0" spcFirstLastPara="1" vertOverflow="ellipsis" vert="horz" wrap="square" anchor="ctr" anchorCtr="1"/>
        <a:lstStyle/>
        <a:p>
          <a:pPr>
            <a:defRPr sz="28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Sheet1!$E$67:$E$68</c:f>
              <c:strCache>
                <c:ptCount val="1"/>
                <c:pt idx="0">
                  <c:v>GENERAL</c:v>
                </c:pt>
              </c:strCache>
            </c:strRef>
          </c:tx>
          <c:spPr>
            <a:solidFill>
              <a:srgbClr val="6699FF"/>
            </a:solidFill>
            <a:ln w="12700">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Sheet1!$D$69:$D$73</c:f>
              <c:strCache>
                <c:ptCount val="4"/>
                <c:pt idx="0">
                  <c:v>JAMMU AND KASHMIR</c:v>
                </c:pt>
                <c:pt idx="1">
                  <c:v>JHARKHAND</c:v>
                </c:pt>
                <c:pt idx="2">
                  <c:v>MANIPUR</c:v>
                </c:pt>
                <c:pt idx="3">
                  <c:v>WEST BENGAL</c:v>
                </c:pt>
              </c:strCache>
            </c:strRef>
          </c:cat>
          <c:val>
            <c:numRef>
              <c:f>Sheet1!$E$69:$E$73</c:f>
              <c:numCache>
                <c:formatCode>0.00%</c:formatCode>
                <c:ptCount val="4"/>
                <c:pt idx="0">
                  <c:v>8.6249999999999993E-2</c:v>
                </c:pt>
                <c:pt idx="1">
                  <c:v>0.01</c:v>
                </c:pt>
                <c:pt idx="2">
                  <c:v>0.24274999999999999</c:v>
                </c:pt>
                <c:pt idx="3">
                  <c:v>5.4999999999999997E-3</c:v>
                </c:pt>
              </c:numCache>
            </c:numRef>
          </c:val>
          <c:extLst>
            <c:ext xmlns:c16="http://schemas.microsoft.com/office/drawing/2014/chart" uri="{C3380CC4-5D6E-409C-BE32-E72D297353CC}">
              <c16:uniqueId val="{00000000-34DD-4011-891C-F1D74714D5B6}"/>
            </c:ext>
          </c:extLst>
        </c:ser>
        <c:ser>
          <c:idx val="1"/>
          <c:order val="1"/>
          <c:tx>
            <c:strRef>
              <c:f>Sheet1!$F$67:$F$68</c:f>
              <c:strCache>
                <c:ptCount val="1"/>
                <c:pt idx="0">
                  <c:v>OBC</c:v>
                </c:pt>
              </c:strCache>
            </c:strRef>
          </c:tx>
          <c:spPr>
            <a:solidFill>
              <a:srgbClr val="3333CC"/>
            </a:solidFill>
            <a:ln w="12700">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Sheet1!$D$69:$D$73</c:f>
              <c:strCache>
                <c:ptCount val="4"/>
                <c:pt idx="0">
                  <c:v>JAMMU AND KASHMIR</c:v>
                </c:pt>
                <c:pt idx="1">
                  <c:v>JHARKHAND</c:v>
                </c:pt>
                <c:pt idx="2">
                  <c:v>MANIPUR</c:v>
                </c:pt>
                <c:pt idx="3">
                  <c:v>WEST BENGAL</c:v>
                </c:pt>
              </c:strCache>
            </c:strRef>
          </c:cat>
          <c:val>
            <c:numRef>
              <c:f>Sheet1!$F$69:$F$73</c:f>
              <c:numCache>
                <c:formatCode>0.00%</c:formatCode>
                <c:ptCount val="4"/>
                <c:pt idx="0">
                  <c:v>5.5E-2</c:v>
                </c:pt>
                <c:pt idx="1">
                  <c:v>6.5500000000000003E-2</c:v>
                </c:pt>
                <c:pt idx="2">
                  <c:v>7.2500000000000004E-3</c:v>
                </c:pt>
                <c:pt idx="3">
                  <c:v>5.6750000000000002E-2</c:v>
                </c:pt>
              </c:numCache>
            </c:numRef>
          </c:val>
          <c:extLst>
            <c:ext xmlns:c16="http://schemas.microsoft.com/office/drawing/2014/chart" uri="{C3380CC4-5D6E-409C-BE32-E72D297353CC}">
              <c16:uniqueId val="{00000001-34DD-4011-891C-F1D74714D5B6}"/>
            </c:ext>
          </c:extLst>
        </c:ser>
        <c:ser>
          <c:idx val="2"/>
          <c:order val="2"/>
          <c:tx>
            <c:strRef>
              <c:f>Sheet1!$G$67:$G$68</c:f>
              <c:strCache>
                <c:ptCount val="1"/>
                <c:pt idx="0">
                  <c:v>SC</c:v>
                </c:pt>
              </c:strCache>
            </c:strRef>
          </c:tx>
          <c:spPr>
            <a:solidFill>
              <a:srgbClr val="9933FF"/>
            </a:solidFill>
            <a:ln w="12700">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Sheet1!$D$69:$D$73</c:f>
              <c:strCache>
                <c:ptCount val="4"/>
                <c:pt idx="0">
                  <c:v>JAMMU AND KASHMIR</c:v>
                </c:pt>
                <c:pt idx="1">
                  <c:v>JHARKHAND</c:v>
                </c:pt>
                <c:pt idx="2">
                  <c:v>MANIPUR</c:v>
                </c:pt>
                <c:pt idx="3">
                  <c:v>WEST BENGAL</c:v>
                </c:pt>
              </c:strCache>
            </c:strRef>
          </c:cat>
          <c:val>
            <c:numRef>
              <c:f>Sheet1!$G$69:$G$73</c:f>
              <c:numCache>
                <c:formatCode>0.00%</c:formatCode>
                <c:ptCount val="4"/>
                <c:pt idx="0">
                  <c:v>0</c:v>
                </c:pt>
                <c:pt idx="1">
                  <c:v>9.8750000000000004E-2</c:v>
                </c:pt>
                <c:pt idx="2">
                  <c:v>0</c:v>
                </c:pt>
                <c:pt idx="3">
                  <c:v>0.05</c:v>
                </c:pt>
              </c:numCache>
            </c:numRef>
          </c:val>
          <c:extLst>
            <c:ext xmlns:c16="http://schemas.microsoft.com/office/drawing/2014/chart" uri="{C3380CC4-5D6E-409C-BE32-E72D297353CC}">
              <c16:uniqueId val="{00000002-34DD-4011-891C-F1D74714D5B6}"/>
            </c:ext>
          </c:extLst>
        </c:ser>
        <c:ser>
          <c:idx val="3"/>
          <c:order val="3"/>
          <c:tx>
            <c:strRef>
              <c:f>Sheet1!$H$67:$H$68</c:f>
              <c:strCache>
                <c:ptCount val="1"/>
                <c:pt idx="0">
                  <c:v>ST</c:v>
                </c:pt>
              </c:strCache>
            </c:strRef>
          </c:tx>
          <c:spPr>
            <a:solidFill>
              <a:srgbClr val="CC66FF"/>
            </a:solidFill>
            <a:ln w="12700">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Sheet1!$D$69:$D$73</c:f>
              <c:strCache>
                <c:ptCount val="4"/>
                <c:pt idx="0">
                  <c:v>JAMMU AND KASHMIR</c:v>
                </c:pt>
                <c:pt idx="1">
                  <c:v>JHARKHAND</c:v>
                </c:pt>
                <c:pt idx="2">
                  <c:v>MANIPUR</c:v>
                </c:pt>
                <c:pt idx="3">
                  <c:v>WEST BENGAL</c:v>
                </c:pt>
              </c:strCache>
            </c:strRef>
          </c:cat>
          <c:val>
            <c:numRef>
              <c:f>Sheet1!$H$69:$H$73</c:f>
              <c:numCache>
                <c:formatCode>0.00%</c:formatCode>
                <c:ptCount val="4"/>
                <c:pt idx="0">
                  <c:v>0</c:v>
                </c:pt>
                <c:pt idx="1">
                  <c:v>7.5000000000000002E-4</c:v>
                </c:pt>
                <c:pt idx="2">
                  <c:v>0</c:v>
                </c:pt>
                <c:pt idx="3">
                  <c:v>0.32150000000000001</c:v>
                </c:pt>
              </c:numCache>
            </c:numRef>
          </c:val>
          <c:extLst>
            <c:ext xmlns:c16="http://schemas.microsoft.com/office/drawing/2014/chart" uri="{C3380CC4-5D6E-409C-BE32-E72D297353CC}">
              <c16:uniqueId val="{00000003-34DD-4011-891C-F1D74714D5B6}"/>
            </c:ext>
          </c:extLst>
        </c:ser>
        <c:dLbls>
          <c:dLblPos val="outEnd"/>
          <c:showLegendKey val="0"/>
          <c:showVal val="1"/>
          <c:showCatName val="0"/>
          <c:showSerName val="0"/>
          <c:showPercent val="0"/>
          <c:showBubbleSize val="0"/>
        </c:dLbls>
        <c:gapWidth val="199"/>
        <c:axId val="1092935839"/>
        <c:axId val="1092923775"/>
      </c:barChart>
      <c:catAx>
        <c:axId val="1092935839"/>
        <c:scaling>
          <c:orientation val="minMax"/>
        </c:scaling>
        <c:delete val="0"/>
        <c:axPos val="b"/>
        <c:numFmt formatCode="General" sourceLinked="1"/>
        <c:majorTickMark val="none"/>
        <c:minorTickMark val="none"/>
        <c:tickLblPos val="nextTo"/>
        <c:spPr>
          <a:noFill/>
          <a:ln w="9525" cap="flat" cmpd="sng" algn="ctr">
            <a:solidFill>
              <a:srgbClr val="7030A0"/>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1092923775"/>
        <c:crosses val="autoZero"/>
        <c:auto val="1"/>
        <c:lblAlgn val="ctr"/>
        <c:lblOffset val="100"/>
        <c:noMultiLvlLbl val="0"/>
      </c:catAx>
      <c:valAx>
        <c:axId val="1092923775"/>
        <c:scaling>
          <c:orientation val="minMax"/>
        </c:scaling>
        <c:delete val="0"/>
        <c:axPos val="l"/>
        <c:numFmt formatCode="0.00%" sourceLinked="1"/>
        <c:majorTickMark val="none"/>
        <c:minorTickMark val="none"/>
        <c:tickLblPos val="nextTo"/>
        <c:spPr>
          <a:noFill/>
          <a:ln>
            <a:solidFill>
              <a:srgbClr val="7030A0"/>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92935839"/>
        <c:crosses val="autoZero"/>
        <c:crossBetween val="between"/>
      </c:valAx>
      <c:spPr>
        <a:noFill/>
        <a:ln>
          <a:noFill/>
        </a:ln>
        <a:effectLst/>
      </c:spPr>
    </c:plotArea>
    <c:legend>
      <c:legendPos val="r"/>
      <c:layout>
        <c:manualLayout>
          <c:xMode val="edge"/>
          <c:yMode val="edge"/>
          <c:x val="0.87915761904443746"/>
          <c:y val="0.44295702792113212"/>
          <c:w val="0.11300981691638533"/>
          <c:h val="0.30930345937185061"/>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FFEBFF"/>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[4000 screening data-edit.xlsx]Sheet1!PivotTable8</c:name>
    <c:fmtId val="5"/>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b="0" dirty="0">
                <a:solidFill>
                  <a:schemeClr val="accent2">
                    <a:lumMod val="75000"/>
                  </a:schemeClr>
                </a:solidFill>
                <a:latin typeface="Times New Roman" panose="02020603050405020304" pitchFamily="18" charset="0"/>
                <a:cs typeface="Times New Roman" panose="02020603050405020304" pitchFamily="18" charset="0"/>
              </a:rPr>
              <a:t>Educational Status</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pivotFmt>
      <c:pivotFmt>
        <c:idx val="3"/>
      </c:pivotFmt>
      <c:pivotFmt>
        <c:idx val="4"/>
      </c:pivotFmt>
      <c:pivotFmt>
        <c:idx val="5"/>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hade val="65000"/>
                  <a:shade val="51000"/>
                  <a:satMod val="130000"/>
                </a:schemeClr>
              </a:gs>
              <a:gs pos="80000">
                <a:schemeClr val="accent1">
                  <a:shade val="65000"/>
                  <a:shade val="93000"/>
                  <a:satMod val="130000"/>
                </a:schemeClr>
              </a:gs>
              <a:gs pos="100000">
                <a:schemeClr val="accent1">
                  <a:shade val="65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7"/>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8"/>
        <c:spPr>
          <a:gradFill rotWithShape="1">
            <a:gsLst>
              <a:gs pos="0">
                <a:schemeClr val="accent1">
                  <a:tint val="65000"/>
                  <a:shade val="51000"/>
                  <a:satMod val="130000"/>
                </a:schemeClr>
              </a:gs>
              <a:gs pos="80000">
                <a:schemeClr val="accent1">
                  <a:tint val="65000"/>
                  <a:shade val="93000"/>
                  <a:satMod val="130000"/>
                </a:schemeClr>
              </a:gs>
              <a:gs pos="100000">
                <a:schemeClr val="accent1">
                  <a:tint val="65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9"/>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hade val="65000"/>
                  <a:shade val="51000"/>
                  <a:satMod val="130000"/>
                </a:schemeClr>
              </a:gs>
              <a:gs pos="80000">
                <a:schemeClr val="accent1">
                  <a:shade val="65000"/>
                  <a:shade val="93000"/>
                  <a:satMod val="130000"/>
                </a:schemeClr>
              </a:gs>
              <a:gs pos="100000">
                <a:schemeClr val="accent1">
                  <a:shade val="65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1"/>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2"/>
        <c:spPr>
          <a:gradFill rotWithShape="1">
            <a:gsLst>
              <a:gs pos="0">
                <a:schemeClr val="accent1">
                  <a:tint val="65000"/>
                  <a:shade val="51000"/>
                  <a:satMod val="130000"/>
                </a:schemeClr>
              </a:gs>
              <a:gs pos="80000">
                <a:schemeClr val="accent1">
                  <a:tint val="65000"/>
                  <a:shade val="93000"/>
                  <a:satMod val="130000"/>
                </a:schemeClr>
              </a:gs>
              <a:gs pos="100000">
                <a:schemeClr val="accent1">
                  <a:tint val="65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3"/>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hade val="65000"/>
                  <a:shade val="51000"/>
                  <a:satMod val="130000"/>
                </a:schemeClr>
              </a:gs>
              <a:gs pos="80000">
                <a:schemeClr val="accent1">
                  <a:shade val="65000"/>
                  <a:shade val="93000"/>
                  <a:satMod val="130000"/>
                </a:schemeClr>
              </a:gs>
              <a:gs pos="100000">
                <a:schemeClr val="accent1">
                  <a:shade val="65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5"/>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
        <c:idx val="16"/>
        <c:spPr>
          <a:gradFill rotWithShape="1">
            <a:gsLst>
              <a:gs pos="0">
                <a:schemeClr val="accent1">
                  <a:tint val="65000"/>
                  <a:shade val="51000"/>
                  <a:satMod val="130000"/>
                </a:schemeClr>
              </a:gs>
              <a:gs pos="80000">
                <a:schemeClr val="accent1">
                  <a:tint val="65000"/>
                  <a:shade val="93000"/>
                  <a:satMod val="130000"/>
                </a:schemeClr>
              </a:gs>
              <a:gs pos="100000">
                <a:schemeClr val="accent1">
                  <a:tint val="65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pivotFmt>
    </c:pivotFmts>
    <c:plotArea>
      <c:layout>
        <c:manualLayout>
          <c:layoutTarget val="inner"/>
          <c:xMode val="edge"/>
          <c:yMode val="edge"/>
          <c:x val="5.1905627617806642E-2"/>
          <c:y val="0.32983247978495589"/>
          <c:w val="0.53454325091224975"/>
          <c:h val="0.57190934723922182"/>
        </c:manualLayout>
      </c:layout>
      <c:pieChart>
        <c:varyColors val="1"/>
        <c:ser>
          <c:idx val="0"/>
          <c:order val="0"/>
          <c:tx>
            <c:strRef>
              <c:f>Sheet1!$E$25</c:f>
              <c:strCache>
                <c:ptCount val="1"/>
                <c:pt idx="0">
                  <c:v>Total</c:v>
                </c:pt>
              </c:strCache>
            </c:strRef>
          </c:tx>
          <c:spPr>
            <a:solidFill>
              <a:srgbClr val="B94707"/>
            </a:solidFill>
          </c:spPr>
          <c:dPt>
            <c:idx val="0"/>
            <c:bubble3D val="0"/>
            <c:spPr>
              <a:solidFill>
                <a:srgbClr val="FCCFB6"/>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4FB0-4DBE-997C-06AAF71E5380}"/>
              </c:ext>
            </c:extLst>
          </c:dPt>
          <c:dPt>
            <c:idx val="1"/>
            <c:bubble3D val="0"/>
            <c:spPr>
              <a:solidFill>
                <a:srgbClr val="B94707"/>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4FB0-4DBE-997C-06AAF71E5380}"/>
              </c:ext>
            </c:extLst>
          </c:dPt>
          <c:dPt>
            <c:idx val="2"/>
            <c:bubble3D val="0"/>
            <c:spPr>
              <a:solidFill>
                <a:srgbClr val="AAB60A"/>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4FB0-4DBE-997C-06AAF71E5380}"/>
              </c:ext>
            </c:extLst>
          </c:dPt>
          <c:dLbls>
            <c:dLbl>
              <c:idx val="0"/>
              <c:layout>
                <c:manualLayout>
                  <c:x val="4.9408129049146364E-3"/>
                  <c:y val="0.1428570238453265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B0-4DBE-997C-06AAF71E5380}"/>
                </c:ext>
              </c:extLst>
            </c:dLbl>
            <c:dLbl>
              <c:idx val="2"/>
              <c:layout>
                <c:manualLayout>
                  <c:x val="8.762468250873923E-3"/>
                  <c:y val="8.0388594209019892E-2"/>
                </c:manualLayout>
              </c:layout>
              <c:tx>
                <c:rich>
                  <a:bodyPr/>
                  <a:lstStyle/>
                  <a:p>
                    <a:fld id="{CB9FE548-C143-4E17-B8B2-32F3FC9217F9}" type="VALUE">
                      <a:rPr lang="en-US">
                        <a:solidFill>
                          <a:schemeClr val="tx1"/>
                        </a:solidFill>
                      </a:rPr>
                      <a:pPr/>
                      <a:t>[VALUE]</a:t>
                    </a:fld>
                    <a:endParaRPr lang="en-IN"/>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4FB0-4DBE-997C-06AAF71E5380}"/>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ln>
                      <a:solidFill>
                        <a:schemeClr val="tx1">
                          <a:lumMod val="95000"/>
                          <a:lumOff val="5000"/>
                        </a:schemeClr>
                      </a:solidFill>
                    </a:ln>
                    <a:solidFill>
                      <a:schemeClr val="tx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Sheet1!$D$26:$D$29</c:f>
              <c:strCache>
                <c:ptCount val="3"/>
                <c:pt idx="0">
                  <c:v>DROP OUT</c:v>
                </c:pt>
                <c:pt idx="1">
                  <c:v>LAGGARD</c:v>
                </c:pt>
                <c:pt idx="2">
                  <c:v>NEVER ENROLLED</c:v>
                </c:pt>
              </c:strCache>
            </c:strRef>
          </c:cat>
          <c:val>
            <c:numRef>
              <c:f>Sheet1!$E$26:$E$29</c:f>
              <c:numCache>
                <c:formatCode>0.00%</c:formatCode>
                <c:ptCount val="3"/>
                <c:pt idx="0">
                  <c:v>3.9E-2</c:v>
                </c:pt>
                <c:pt idx="1">
                  <c:v>0.93300000000000005</c:v>
                </c:pt>
                <c:pt idx="2">
                  <c:v>2.8000000000000001E-2</c:v>
                </c:pt>
              </c:numCache>
            </c:numRef>
          </c:val>
          <c:extLst>
            <c:ext xmlns:c16="http://schemas.microsoft.com/office/drawing/2014/chart" uri="{C3380CC4-5D6E-409C-BE32-E72D297353CC}">
              <c16:uniqueId val="{00000006-4FB0-4DBE-997C-06AAF71E5380}"/>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legendEntry>
        <c:idx val="0"/>
        <c:txPr>
          <a:bodyPr rot="0" spcFirstLastPara="1" vertOverflow="ellipsis" vert="horz" wrap="square" anchor="ctr" anchorCtr="1"/>
          <a:lstStyle/>
          <a:p>
            <a:pPr>
              <a:defRPr sz="1197" b="0" i="0" u="none" strike="noStrike" kern="1200" baseline="0">
                <a:solidFill>
                  <a:schemeClr val="accent2">
                    <a:lumMod val="5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97" b="0" i="0" u="none" strike="noStrike" kern="1200" baseline="0">
                <a:solidFill>
                  <a:schemeClr val="accent2">
                    <a:lumMod val="5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97" b="0" i="0" u="none" strike="noStrike" kern="1200" baseline="0">
                <a:solidFill>
                  <a:schemeClr val="accent2">
                    <a:lumMod val="50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6">
        <a:lumMod val="20000"/>
        <a:lumOff val="8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in Microsoft PowerPoint]Sheet1!PivotTable11</c:name>
    <c:fmtId val="-1"/>
  </c:pivotSource>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en-US" b="0" dirty="0">
                <a:latin typeface="Times New Roman" panose="02020603050405020304" pitchFamily="18" charset="0"/>
                <a:cs typeface="Times New Roman" panose="02020603050405020304" pitchFamily="18" charset="0"/>
              </a:rPr>
              <a:t>Dropout</a:t>
            </a:r>
            <a:r>
              <a:rPr lang="en-US" b="0" baseline="0" dirty="0">
                <a:latin typeface="Times New Roman" panose="02020603050405020304" pitchFamily="18" charset="0"/>
                <a:cs typeface="Times New Roman" panose="02020603050405020304" pitchFamily="18" charset="0"/>
              </a:rPr>
              <a:t> % against birth year of children</a:t>
            </a:r>
            <a:endParaRPr lang="en-US" b="0" dirty="0">
              <a:latin typeface="Times New Roman" panose="02020603050405020304" pitchFamily="18" charset="0"/>
              <a:cs typeface="Times New Roman" panose="02020603050405020304" pitchFamily="18" charset="0"/>
            </a:endParaRPr>
          </a:p>
        </c:rich>
      </c:tx>
      <c:layout>
        <c:manualLayout>
          <c:xMode val="edge"/>
          <c:yMode val="edge"/>
          <c:x val="0.12040346264115231"/>
          <c:y val="0"/>
        </c:manualLayout>
      </c:layout>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p>
      </c:txPr>
    </c:title>
    <c:autoTitleDeleted val="0"/>
    <c:pivotFmts>
      <c:pivotFmt>
        <c:idx val="0"/>
        <c:spPr>
          <a:solidFill>
            <a:schemeClr val="accent1"/>
          </a:solidFill>
          <a:ln w="28575" cap="rnd" cmpd="sng" algn="ctr">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cmpd="sng" algn="ctr">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cmpd="sng" algn="ctr">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cmpd="sng" algn="ctr">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noFill/>
          <a:ln w="28575" cap="rnd" cmpd="sng" algn="ctr">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Sheet1!$E$76:$E$77</c:f>
              <c:strCache>
                <c:ptCount val="1"/>
                <c:pt idx="0">
                  <c:v>DROP OUT</c:v>
                </c:pt>
              </c:strCache>
            </c:strRef>
          </c:tx>
          <c:spPr>
            <a:ln w="22225" cap="rnd">
              <a:solidFill>
                <a:schemeClr val="accent1"/>
              </a:solidFill>
            </a:ln>
            <a:effectLst>
              <a:glow rad="139700">
                <a:schemeClr val="accent1">
                  <a:satMod val="175000"/>
                  <a:alpha val="14000"/>
                </a:schemeClr>
              </a:glow>
            </a:effectLst>
          </c:spPr>
          <c:marker>
            <c:symbol val="none"/>
          </c:marker>
          <c:cat>
            <c:strRef>
              <c:f>Sheet1!$D$78:$D$86</c:f>
              <c:strCache>
                <c:ptCount val="8"/>
                <c:pt idx="0">
                  <c:v>2008</c:v>
                </c:pt>
                <c:pt idx="1">
                  <c:v>2009</c:v>
                </c:pt>
                <c:pt idx="2">
                  <c:v>2010</c:v>
                </c:pt>
                <c:pt idx="3">
                  <c:v>2011</c:v>
                </c:pt>
                <c:pt idx="4">
                  <c:v>2012</c:v>
                </c:pt>
                <c:pt idx="5">
                  <c:v>2013</c:v>
                </c:pt>
                <c:pt idx="6">
                  <c:v>2014</c:v>
                </c:pt>
                <c:pt idx="7">
                  <c:v>2015</c:v>
                </c:pt>
              </c:strCache>
            </c:strRef>
          </c:cat>
          <c:val>
            <c:numRef>
              <c:f>Sheet1!$E$78:$E$86</c:f>
              <c:numCache>
                <c:formatCode>0.00%</c:formatCode>
                <c:ptCount val="8"/>
                <c:pt idx="0">
                  <c:v>0.14743589743589744</c:v>
                </c:pt>
                <c:pt idx="1">
                  <c:v>0.32051282051282054</c:v>
                </c:pt>
                <c:pt idx="2">
                  <c:v>0.1858974358974359</c:v>
                </c:pt>
                <c:pt idx="3">
                  <c:v>8.3333333333333329E-2</c:v>
                </c:pt>
                <c:pt idx="4">
                  <c:v>9.6153846153846159E-2</c:v>
                </c:pt>
                <c:pt idx="5">
                  <c:v>6.4102564102564097E-2</c:v>
                </c:pt>
                <c:pt idx="6">
                  <c:v>8.3333333333333329E-2</c:v>
                </c:pt>
                <c:pt idx="7">
                  <c:v>1.9230769230769232E-2</c:v>
                </c:pt>
              </c:numCache>
            </c:numRef>
          </c:val>
          <c:smooth val="0"/>
          <c:extLst>
            <c:ext xmlns:c16="http://schemas.microsoft.com/office/drawing/2014/chart" uri="{C3380CC4-5D6E-409C-BE32-E72D297353CC}">
              <c16:uniqueId val="{00000000-9461-4C3B-A70C-31E25221771A}"/>
            </c:ext>
          </c:extLst>
        </c:ser>
        <c:dLbls>
          <c:showLegendKey val="0"/>
          <c:showVal val="0"/>
          <c:showCatName val="0"/>
          <c:showSerName val="0"/>
          <c:showPercent val="0"/>
          <c:showBubbleSize val="0"/>
        </c:dLbls>
        <c:smooth val="0"/>
        <c:axId val="1092905055"/>
        <c:axId val="1092907551"/>
      </c:lineChart>
      <c:catAx>
        <c:axId val="1092905055"/>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92907551"/>
        <c:crosses val="autoZero"/>
        <c:auto val="1"/>
        <c:lblAlgn val="ctr"/>
        <c:lblOffset val="100"/>
        <c:noMultiLvlLbl val="0"/>
      </c:catAx>
      <c:valAx>
        <c:axId val="1092907551"/>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929050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6">
        <a:lumMod val="50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[4000 screening data-edit.xlsx]Sheet1!PivotTable29</c:name>
    <c:fmtId val="5"/>
  </c:pivotSource>
  <c:chart>
    <c:title>
      <c:tx>
        <c:rich>
          <a:bodyPr rot="0" spcFirstLastPara="1" vertOverflow="ellipsis" vert="horz" wrap="square" anchor="ctr" anchorCtr="1"/>
          <a:lstStyle/>
          <a:p>
            <a:pPr>
              <a:defRPr sz="1800" b="1"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US" sz="1800" dirty="0">
                <a:solidFill>
                  <a:schemeClr val="accent1">
                    <a:lumMod val="50000"/>
                  </a:schemeClr>
                </a:solidFill>
                <a:latin typeface="Times New Roman" panose="02020603050405020304" pitchFamily="18" charset="0"/>
                <a:cs typeface="Times New Roman" panose="02020603050405020304" pitchFamily="18" charset="0"/>
              </a:rPr>
              <a:t>Enrolment Status (Out of 4000 children)</a:t>
            </a:r>
          </a:p>
        </c:rich>
      </c:tx>
      <c:layout>
        <c:manualLayout>
          <c:xMode val="edge"/>
          <c:yMode val="edge"/>
          <c:x val="0.20664752827719984"/>
          <c:y val="3.0314651763421595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3284962719638155"/>
          <c:y val="0.24337626185069491"/>
          <c:w val="0.83674917877876964"/>
          <c:h val="0.51821319130269194"/>
        </c:manualLayout>
      </c:layout>
      <c:barChart>
        <c:barDir val="col"/>
        <c:grouping val="clustered"/>
        <c:varyColors val="0"/>
        <c:ser>
          <c:idx val="0"/>
          <c:order val="0"/>
          <c:tx>
            <c:strRef>
              <c:f>Sheet1!$N$85:$N$86</c:f>
              <c:strCache>
                <c:ptCount val="1"/>
                <c:pt idx="0">
                  <c:v>DROP OUT</c:v>
                </c:pt>
              </c:strCache>
            </c:strRef>
          </c:tx>
          <c:spPr>
            <a:solidFill>
              <a:srgbClr val="339933"/>
            </a:solidFill>
            <a:ln w="12700">
              <a:solidFill>
                <a:schemeClr val="accent6">
                  <a:lumMod val="50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Sheet1!$M$87:$M$91</c:f>
              <c:strCache>
                <c:ptCount val="4"/>
                <c:pt idx="0">
                  <c:v>JAMMU AND KASHMIR</c:v>
                </c:pt>
                <c:pt idx="1">
                  <c:v>JHARKHAND</c:v>
                </c:pt>
                <c:pt idx="2">
                  <c:v>MANIPUR</c:v>
                </c:pt>
                <c:pt idx="3">
                  <c:v>WEST BENGAL</c:v>
                </c:pt>
              </c:strCache>
            </c:strRef>
          </c:cat>
          <c:val>
            <c:numRef>
              <c:f>Sheet1!$N$87:$N$91</c:f>
              <c:numCache>
                <c:formatCode>0.00%</c:formatCode>
                <c:ptCount val="4"/>
                <c:pt idx="0">
                  <c:v>2.375E-2</c:v>
                </c:pt>
                <c:pt idx="1">
                  <c:v>3.7499999999999999E-3</c:v>
                </c:pt>
                <c:pt idx="2">
                  <c:v>8.9999999999999993E-3</c:v>
                </c:pt>
                <c:pt idx="3">
                  <c:v>2.5000000000000001E-3</c:v>
                </c:pt>
              </c:numCache>
            </c:numRef>
          </c:val>
          <c:extLst>
            <c:ext xmlns:c16="http://schemas.microsoft.com/office/drawing/2014/chart" uri="{C3380CC4-5D6E-409C-BE32-E72D297353CC}">
              <c16:uniqueId val="{00000000-0773-4623-85C0-D20B648D43D5}"/>
            </c:ext>
          </c:extLst>
        </c:ser>
        <c:ser>
          <c:idx val="1"/>
          <c:order val="1"/>
          <c:tx>
            <c:strRef>
              <c:f>Sheet1!$O$85:$O$86</c:f>
              <c:strCache>
                <c:ptCount val="1"/>
                <c:pt idx="0">
                  <c:v>LAGGARD</c:v>
                </c:pt>
              </c:strCache>
            </c:strRef>
          </c:tx>
          <c:spPr>
            <a:solidFill>
              <a:srgbClr val="009999"/>
            </a:solidFill>
            <a:ln w="12700">
              <a:solidFill>
                <a:schemeClr val="accent1">
                  <a:lumMod val="50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Sheet1!$M$87:$M$91</c:f>
              <c:strCache>
                <c:ptCount val="4"/>
                <c:pt idx="0">
                  <c:v>JAMMU AND KASHMIR</c:v>
                </c:pt>
                <c:pt idx="1">
                  <c:v>JHARKHAND</c:v>
                </c:pt>
                <c:pt idx="2">
                  <c:v>MANIPUR</c:v>
                </c:pt>
                <c:pt idx="3">
                  <c:v>WEST BENGAL</c:v>
                </c:pt>
              </c:strCache>
            </c:strRef>
          </c:cat>
          <c:val>
            <c:numRef>
              <c:f>Sheet1!$O$87:$O$91</c:f>
              <c:numCache>
                <c:formatCode>0.00%</c:formatCode>
                <c:ptCount val="4"/>
                <c:pt idx="0">
                  <c:v>9.1499999999999998E-2</c:v>
                </c:pt>
                <c:pt idx="1">
                  <c:v>0.17100000000000001</c:v>
                </c:pt>
                <c:pt idx="2">
                  <c:v>0.24074999999999999</c:v>
                </c:pt>
                <c:pt idx="3">
                  <c:v>0.42975000000000002</c:v>
                </c:pt>
              </c:numCache>
            </c:numRef>
          </c:val>
          <c:extLst>
            <c:ext xmlns:c16="http://schemas.microsoft.com/office/drawing/2014/chart" uri="{C3380CC4-5D6E-409C-BE32-E72D297353CC}">
              <c16:uniqueId val="{00000001-0773-4623-85C0-D20B648D43D5}"/>
            </c:ext>
          </c:extLst>
        </c:ser>
        <c:ser>
          <c:idx val="2"/>
          <c:order val="2"/>
          <c:tx>
            <c:strRef>
              <c:f>Sheet1!$P$85:$P$86</c:f>
              <c:strCache>
                <c:ptCount val="1"/>
                <c:pt idx="0">
                  <c:v>NEVER ENROLLED</c:v>
                </c:pt>
              </c:strCache>
            </c:strRef>
          </c:tx>
          <c:spPr>
            <a:solidFill>
              <a:srgbClr val="003366"/>
            </a:solidFill>
            <a:ln w="12700">
              <a:solidFill>
                <a:srgbClr val="7030A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Sheet1!$M$87:$M$91</c:f>
              <c:strCache>
                <c:ptCount val="4"/>
                <c:pt idx="0">
                  <c:v>JAMMU AND KASHMIR</c:v>
                </c:pt>
                <c:pt idx="1">
                  <c:v>JHARKHAND</c:v>
                </c:pt>
                <c:pt idx="2">
                  <c:v>MANIPUR</c:v>
                </c:pt>
                <c:pt idx="3">
                  <c:v>WEST BENGAL</c:v>
                </c:pt>
              </c:strCache>
            </c:strRef>
          </c:cat>
          <c:val>
            <c:numRef>
              <c:f>Sheet1!$P$87:$P$91</c:f>
              <c:numCache>
                <c:formatCode>0.00%</c:formatCode>
                <c:ptCount val="4"/>
                <c:pt idx="0">
                  <c:v>2.5999999999999999E-2</c:v>
                </c:pt>
                <c:pt idx="1">
                  <c:v>2.5000000000000001E-4</c:v>
                </c:pt>
                <c:pt idx="2">
                  <c:v>2.5000000000000001E-4</c:v>
                </c:pt>
                <c:pt idx="3">
                  <c:v>1.5E-3</c:v>
                </c:pt>
              </c:numCache>
            </c:numRef>
          </c:val>
          <c:extLst>
            <c:ext xmlns:c16="http://schemas.microsoft.com/office/drawing/2014/chart" uri="{C3380CC4-5D6E-409C-BE32-E72D297353CC}">
              <c16:uniqueId val="{00000002-0773-4623-85C0-D20B648D43D5}"/>
            </c:ext>
          </c:extLst>
        </c:ser>
        <c:dLbls>
          <c:dLblPos val="outEnd"/>
          <c:showLegendKey val="0"/>
          <c:showVal val="1"/>
          <c:showCatName val="0"/>
          <c:showSerName val="0"/>
          <c:showPercent val="0"/>
          <c:showBubbleSize val="0"/>
        </c:dLbls>
        <c:gapWidth val="100"/>
        <c:axId val="1003669983"/>
        <c:axId val="1003674975"/>
      </c:barChart>
      <c:catAx>
        <c:axId val="1003669983"/>
        <c:scaling>
          <c:orientation val="minMax"/>
        </c:scaling>
        <c:delete val="0"/>
        <c:axPos val="b"/>
        <c:numFmt formatCode="General" sourceLinked="1"/>
        <c:majorTickMark val="out"/>
        <c:minorTickMark val="none"/>
        <c:tickLblPos val="nextTo"/>
        <c:spPr>
          <a:noFill/>
          <a:ln w="9525" cap="flat" cmpd="sng" algn="ctr">
            <a:solidFill>
              <a:schemeClr val="accen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003674975"/>
        <c:crosses val="autoZero"/>
        <c:auto val="1"/>
        <c:lblAlgn val="ctr"/>
        <c:lblOffset val="100"/>
        <c:noMultiLvlLbl val="0"/>
      </c:catAx>
      <c:valAx>
        <c:axId val="1003674975"/>
        <c:scaling>
          <c:orientation val="minMax"/>
        </c:scaling>
        <c:delete val="0"/>
        <c:axPos val="l"/>
        <c:numFmt formatCode="0.00%" sourceLinked="1"/>
        <c:majorTickMark val="none"/>
        <c:minorTickMark val="none"/>
        <c:tickLblPos val="nextTo"/>
        <c:spPr>
          <a:noFill/>
          <a:ln>
            <a:solidFill>
              <a:schemeClr val="accent1">
                <a:lumMod val="5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0036699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[4000 screening data-edit.xlsx]Sheet1!PivotTable30</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dirty="0">
                <a:solidFill>
                  <a:schemeClr val="accent1">
                    <a:lumMod val="50000"/>
                  </a:schemeClr>
                </a:solidFill>
                <a:latin typeface="Times New Roman" panose="02020603050405020304" pitchFamily="18" charset="0"/>
                <a:cs typeface="Times New Roman" panose="02020603050405020304" pitchFamily="18" charset="0"/>
              </a:rPr>
              <a:t>Enrolment Status (Respective child coverage of state)</a:t>
            </a:r>
          </a:p>
        </c:rich>
      </c:tx>
      <c:layout>
        <c:manualLayout>
          <c:xMode val="edge"/>
          <c:yMode val="edge"/>
          <c:x val="0.11655227319741765"/>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Sheet1!$N$94:$N$95</c:f>
              <c:strCache>
                <c:ptCount val="1"/>
                <c:pt idx="0">
                  <c:v>DROP OUT</c:v>
                </c:pt>
              </c:strCache>
            </c:strRef>
          </c:tx>
          <c:spPr>
            <a:solidFill>
              <a:srgbClr val="339933"/>
            </a:solidFill>
            <a:ln w="12700">
              <a:solidFill>
                <a:schemeClr val="accent6">
                  <a:lumMod val="50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3366"/>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Sheet1!$M$96:$M$100</c:f>
              <c:strCache>
                <c:ptCount val="4"/>
                <c:pt idx="0">
                  <c:v>JAMMU AND KASHMIR</c:v>
                </c:pt>
                <c:pt idx="1">
                  <c:v>JHARKHAND</c:v>
                </c:pt>
                <c:pt idx="2">
                  <c:v>MANIPUR</c:v>
                </c:pt>
                <c:pt idx="3">
                  <c:v>WEST BENGAL</c:v>
                </c:pt>
              </c:strCache>
            </c:strRef>
          </c:cat>
          <c:val>
            <c:numRef>
              <c:f>Sheet1!$N$96:$N$100</c:f>
              <c:numCache>
                <c:formatCode>0.00%</c:formatCode>
                <c:ptCount val="4"/>
                <c:pt idx="0">
                  <c:v>0.16814159292035399</c:v>
                </c:pt>
                <c:pt idx="1">
                  <c:v>2.1428571428571429E-2</c:v>
                </c:pt>
                <c:pt idx="2">
                  <c:v>3.5999999999999997E-2</c:v>
                </c:pt>
                <c:pt idx="3">
                  <c:v>5.763688760806916E-3</c:v>
                </c:pt>
              </c:numCache>
            </c:numRef>
          </c:val>
          <c:extLst>
            <c:ext xmlns:c16="http://schemas.microsoft.com/office/drawing/2014/chart" uri="{C3380CC4-5D6E-409C-BE32-E72D297353CC}">
              <c16:uniqueId val="{00000000-F7AD-4891-AB7E-FFA0C78F17C1}"/>
            </c:ext>
          </c:extLst>
        </c:ser>
        <c:ser>
          <c:idx val="1"/>
          <c:order val="1"/>
          <c:tx>
            <c:strRef>
              <c:f>Sheet1!$O$94:$O$95</c:f>
              <c:strCache>
                <c:ptCount val="1"/>
                <c:pt idx="0">
                  <c:v>LAGGARD</c:v>
                </c:pt>
              </c:strCache>
            </c:strRef>
          </c:tx>
          <c:spPr>
            <a:solidFill>
              <a:srgbClr val="009999"/>
            </a:solidFill>
            <a:ln w="12700">
              <a:solidFill>
                <a:schemeClr val="accent1">
                  <a:lumMod val="50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3366"/>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Sheet1!$M$96:$M$100</c:f>
              <c:strCache>
                <c:ptCount val="4"/>
                <c:pt idx="0">
                  <c:v>JAMMU AND KASHMIR</c:v>
                </c:pt>
                <c:pt idx="1">
                  <c:v>JHARKHAND</c:v>
                </c:pt>
                <c:pt idx="2">
                  <c:v>MANIPUR</c:v>
                </c:pt>
                <c:pt idx="3">
                  <c:v>WEST BENGAL</c:v>
                </c:pt>
              </c:strCache>
            </c:strRef>
          </c:cat>
          <c:val>
            <c:numRef>
              <c:f>Sheet1!$O$96:$O$100</c:f>
              <c:numCache>
                <c:formatCode>0.00%</c:formatCode>
                <c:ptCount val="4"/>
                <c:pt idx="0">
                  <c:v>0.64778761061946899</c:v>
                </c:pt>
                <c:pt idx="1">
                  <c:v>0.97714285714285709</c:v>
                </c:pt>
                <c:pt idx="2">
                  <c:v>0.96299999999999997</c:v>
                </c:pt>
                <c:pt idx="3">
                  <c:v>0.99077809798270888</c:v>
                </c:pt>
              </c:numCache>
            </c:numRef>
          </c:val>
          <c:extLst>
            <c:ext xmlns:c16="http://schemas.microsoft.com/office/drawing/2014/chart" uri="{C3380CC4-5D6E-409C-BE32-E72D297353CC}">
              <c16:uniqueId val="{00000001-F7AD-4891-AB7E-FFA0C78F17C1}"/>
            </c:ext>
          </c:extLst>
        </c:ser>
        <c:ser>
          <c:idx val="2"/>
          <c:order val="2"/>
          <c:tx>
            <c:strRef>
              <c:f>Sheet1!$P$94:$P$95</c:f>
              <c:strCache>
                <c:ptCount val="1"/>
                <c:pt idx="0">
                  <c:v>NEVER ENROLLED</c:v>
                </c:pt>
              </c:strCache>
            </c:strRef>
          </c:tx>
          <c:spPr>
            <a:solidFill>
              <a:srgbClr val="003366"/>
            </a:solidFill>
            <a:ln>
              <a:solidFill>
                <a:srgbClr val="7030A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3366"/>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Sheet1!$M$96:$M$100</c:f>
              <c:strCache>
                <c:ptCount val="4"/>
                <c:pt idx="0">
                  <c:v>JAMMU AND KASHMIR</c:v>
                </c:pt>
                <c:pt idx="1">
                  <c:v>JHARKHAND</c:v>
                </c:pt>
                <c:pt idx="2">
                  <c:v>MANIPUR</c:v>
                </c:pt>
                <c:pt idx="3">
                  <c:v>WEST BENGAL</c:v>
                </c:pt>
              </c:strCache>
            </c:strRef>
          </c:cat>
          <c:val>
            <c:numRef>
              <c:f>Sheet1!$P$96:$P$100</c:f>
              <c:numCache>
                <c:formatCode>0.00%</c:formatCode>
                <c:ptCount val="4"/>
                <c:pt idx="0">
                  <c:v>0.18407079646017699</c:v>
                </c:pt>
                <c:pt idx="1">
                  <c:v>1.4285714285714286E-3</c:v>
                </c:pt>
                <c:pt idx="2">
                  <c:v>1E-3</c:v>
                </c:pt>
                <c:pt idx="3">
                  <c:v>3.4582132564841498E-3</c:v>
                </c:pt>
              </c:numCache>
            </c:numRef>
          </c:val>
          <c:extLst>
            <c:ext xmlns:c16="http://schemas.microsoft.com/office/drawing/2014/chart" uri="{C3380CC4-5D6E-409C-BE32-E72D297353CC}">
              <c16:uniqueId val="{00000002-F7AD-4891-AB7E-FFA0C78F17C1}"/>
            </c:ext>
          </c:extLst>
        </c:ser>
        <c:dLbls>
          <c:dLblPos val="outEnd"/>
          <c:showLegendKey val="0"/>
          <c:showVal val="1"/>
          <c:showCatName val="0"/>
          <c:showSerName val="0"/>
          <c:showPercent val="0"/>
          <c:showBubbleSize val="0"/>
        </c:dLbls>
        <c:gapWidth val="219"/>
        <c:overlap val="-27"/>
        <c:axId val="1003650015"/>
        <c:axId val="1003651679"/>
      </c:barChart>
      <c:catAx>
        <c:axId val="1003650015"/>
        <c:scaling>
          <c:orientation val="minMax"/>
        </c:scaling>
        <c:delete val="0"/>
        <c:axPos val="b"/>
        <c:numFmt formatCode="General" sourceLinked="1"/>
        <c:majorTickMark val="out"/>
        <c:minorTickMark val="none"/>
        <c:tickLblPos val="nextTo"/>
        <c:spPr>
          <a:noFill/>
          <a:ln w="9525" cap="flat" cmpd="sng" algn="ctr">
            <a:solidFill>
              <a:srgbClr val="003366"/>
            </a:solidFill>
            <a:round/>
          </a:ln>
          <a:effectLst/>
        </c:spPr>
        <c:txPr>
          <a:bodyPr rot="-60000000" spcFirstLastPara="1" vertOverflow="ellipsis" vert="horz" wrap="square" anchor="ctr" anchorCtr="1"/>
          <a:lstStyle/>
          <a:p>
            <a:pPr>
              <a:defRPr sz="900" b="0" i="0" u="none" strike="noStrike" kern="1200" baseline="0">
                <a:solidFill>
                  <a:srgbClr val="003366"/>
                </a:solidFill>
                <a:latin typeface="+mn-lt"/>
                <a:ea typeface="+mn-ea"/>
                <a:cs typeface="+mn-cs"/>
              </a:defRPr>
            </a:pPr>
            <a:endParaRPr lang="en-US"/>
          </a:p>
        </c:txPr>
        <c:crossAx val="1003651679"/>
        <c:crosses val="autoZero"/>
        <c:auto val="1"/>
        <c:lblAlgn val="ctr"/>
        <c:lblOffset val="100"/>
        <c:noMultiLvlLbl val="0"/>
      </c:catAx>
      <c:valAx>
        <c:axId val="100365167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solidFill>
              <a:srgbClr val="003366"/>
            </a:solidFill>
          </a:ln>
          <a:effectLst/>
        </c:spPr>
        <c:txPr>
          <a:bodyPr rot="-60000000" spcFirstLastPara="1" vertOverflow="ellipsis" vert="horz" wrap="square" anchor="ctr" anchorCtr="1"/>
          <a:lstStyle/>
          <a:p>
            <a:pPr>
              <a:defRPr sz="900" b="0" i="0" u="none" strike="noStrike" kern="1200" baseline="0">
                <a:solidFill>
                  <a:srgbClr val="003366"/>
                </a:solidFill>
                <a:latin typeface="+mn-lt"/>
                <a:ea typeface="+mn-ea"/>
                <a:cs typeface="+mn-cs"/>
              </a:defRPr>
            </a:pPr>
            <a:endParaRPr lang="en-US"/>
          </a:p>
        </c:txPr>
        <c:crossAx val="10036500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003366"/>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[4000 screening data-edit.xlsx]Sheet1!PivotTable9</c:name>
    <c:fmtId val="5"/>
  </c:pivotSource>
  <c:chart>
    <c:autoTitleDeleted val="0"/>
    <c:pivotFmts>
      <c:pivotFmt>
        <c:idx val="0"/>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Sheet1!$N$70:$N$71</c:f>
              <c:strCache>
                <c:ptCount val="1"/>
                <c:pt idx="0">
                  <c:v>FEMALE</c:v>
                </c:pt>
              </c:strCache>
            </c:strRef>
          </c:tx>
          <c:spPr>
            <a:solidFill>
              <a:srgbClr val="FFFF00"/>
            </a:solidFill>
            <a:ln w="9525" cap="flat" cmpd="sng" algn="ctr">
              <a:solidFill>
                <a:schemeClr val="accent4">
                  <a:lumMod val="75000"/>
                </a:schemeClr>
              </a:solidFill>
              <a:round/>
            </a:ln>
            <a:effectLst/>
          </c:spPr>
          <c:invertIfNegative val="0"/>
          <c:cat>
            <c:strRef>
              <c:f>Sheet1!$M$72:$M$80</c:f>
              <c:strCache>
                <c:ptCount val="8"/>
                <c:pt idx="0">
                  <c:v>2008</c:v>
                </c:pt>
                <c:pt idx="1">
                  <c:v>2009</c:v>
                </c:pt>
                <c:pt idx="2">
                  <c:v>2010</c:v>
                </c:pt>
                <c:pt idx="3">
                  <c:v>2011</c:v>
                </c:pt>
                <c:pt idx="4">
                  <c:v>2012</c:v>
                </c:pt>
                <c:pt idx="5">
                  <c:v>2013</c:v>
                </c:pt>
                <c:pt idx="6">
                  <c:v>2014</c:v>
                </c:pt>
                <c:pt idx="7">
                  <c:v>2015</c:v>
                </c:pt>
              </c:strCache>
            </c:strRef>
          </c:cat>
          <c:val>
            <c:numRef>
              <c:f>Sheet1!$N$72:$N$80</c:f>
              <c:numCache>
                <c:formatCode>0.00%</c:formatCode>
                <c:ptCount val="8"/>
                <c:pt idx="0">
                  <c:v>0.16666666666666666</c:v>
                </c:pt>
                <c:pt idx="1">
                  <c:v>0.41025641025641024</c:v>
                </c:pt>
                <c:pt idx="2">
                  <c:v>6.4102564102564097E-2</c:v>
                </c:pt>
                <c:pt idx="3">
                  <c:v>0.10256410256410256</c:v>
                </c:pt>
                <c:pt idx="4">
                  <c:v>8.9743589743589744E-2</c:v>
                </c:pt>
                <c:pt idx="5">
                  <c:v>5.128205128205128E-2</c:v>
                </c:pt>
                <c:pt idx="6">
                  <c:v>8.9743589743589744E-2</c:v>
                </c:pt>
                <c:pt idx="7">
                  <c:v>2.564102564102564E-2</c:v>
                </c:pt>
              </c:numCache>
            </c:numRef>
          </c:val>
          <c:extLst>
            <c:ext xmlns:c16="http://schemas.microsoft.com/office/drawing/2014/chart" uri="{C3380CC4-5D6E-409C-BE32-E72D297353CC}">
              <c16:uniqueId val="{00000000-0EC6-46FF-A5C9-8EC38C90E06C}"/>
            </c:ext>
          </c:extLst>
        </c:ser>
        <c:ser>
          <c:idx val="1"/>
          <c:order val="1"/>
          <c:tx>
            <c:strRef>
              <c:f>Sheet1!$O$70:$O$71</c:f>
              <c:strCache>
                <c:ptCount val="1"/>
                <c:pt idx="0">
                  <c:v>MALE</c:v>
                </c:pt>
              </c:strCache>
            </c:strRef>
          </c:tx>
          <c:spPr>
            <a:solidFill>
              <a:schemeClr val="accent2">
                <a:lumMod val="75000"/>
              </a:schemeClr>
            </a:solidFill>
            <a:ln w="9525" cap="flat" cmpd="sng" algn="ctr">
              <a:solidFill>
                <a:schemeClr val="accent2">
                  <a:lumMod val="50000"/>
                </a:schemeClr>
              </a:solidFill>
              <a:round/>
            </a:ln>
            <a:effectLst/>
          </c:spPr>
          <c:invertIfNegative val="0"/>
          <c:cat>
            <c:strRef>
              <c:f>Sheet1!$M$72:$M$80</c:f>
              <c:strCache>
                <c:ptCount val="8"/>
                <c:pt idx="0">
                  <c:v>2008</c:v>
                </c:pt>
                <c:pt idx="1">
                  <c:v>2009</c:v>
                </c:pt>
                <c:pt idx="2">
                  <c:v>2010</c:v>
                </c:pt>
                <c:pt idx="3">
                  <c:v>2011</c:v>
                </c:pt>
                <c:pt idx="4">
                  <c:v>2012</c:v>
                </c:pt>
                <c:pt idx="5">
                  <c:v>2013</c:v>
                </c:pt>
                <c:pt idx="6">
                  <c:v>2014</c:v>
                </c:pt>
                <c:pt idx="7">
                  <c:v>2015</c:v>
                </c:pt>
              </c:strCache>
            </c:strRef>
          </c:cat>
          <c:val>
            <c:numRef>
              <c:f>Sheet1!$O$72:$O$80</c:f>
              <c:numCache>
                <c:formatCode>0.00%</c:formatCode>
                <c:ptCount val="8"/>
                <c:pt idx="0">
                  <c:v>0.12820512820512819</c:v>
                </c:pt>
                <c:pt idx="1">
                  <c:v>0.23076923076923078</c:v>
                </c:pt>
                <c:pt idx="2">
                  <c:v>0.30769230769230771</c:v>
                </c:pt>
                <c:pt idx="3">
                  <c:v>6.4102564102564097E-2</c:v>
                </c:pt>
                <c:pt idx="4">
                  <c:v>0.10256410256410256</c:v>
                </c:pt>
                <c:pt idx="5">
                  <c:v>7.6923076923076927E-2</c:v>
                </c:pt>
                <c:pt idx="6">
                  <c:v>7.6923076923076927E-2</c:v>
                </c:pt>
                <c:pt idx="7">
                  <c:v>1.282051282051282E-2</c:v>
                </c:pt>
              </c:numCache>
            </c:numRef>
          </c:val>
          <c:extLst>
            <c:ext xmlns:c16="http://schemas.microsoft.com/office/drawing/2014/chart" uri="{C3380CC4-5D6E-409C-BE32-E72D297353CC}">
              <c16:uniqueId val="{00000001-0EC6-46FF-A5C9-8EC38C90E06C}"/>
            </c:ext>
          </c:extLst>
        </c:ser>
        <c:dLbls>
          <c:showLegendKey val="0"/>
          <c:showVal val="0"/>
          <c:showCatName val="0"/>
          <c:showSerName val="0"/>
          <c:showPercent val="0"/>
          <c:showBubbleSize val="0"/>
        </c:dLbls>
        <c:gapWidth val="100"/>
        <c:overlap val="-24"/>
        <c:axId val="1003631711"/>
        <c:axId val="1003632127"/>
      </c:barChart>
      <c:catAx>
        <c:axId val="1003631711"/>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lumMod val="50000"/>
                        <a:lumOff val="50000"/>
                      </a:schemeClr>
                    </a:solidFill>
                    <a:latin typeface="+mn-lt"/>
                    <a:ea typeface="+mn-ea"/>
                    <a:cs typeface="+mn-cs"/>
                  </a:defRPr>
                </a:pPr>
                <a:r>
                  <a:rPr lang="en-US" dirty="0">
                    <a:solidFill>
                      <a:schemeClr val="accent2">
                        <a:lumMod val="50000"/>
                      </a:schemeClr>
                    </a:solidFill>
                  </a:rPr>
                  <a:t>Year of Birth</a:t>
                </a: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50000"/>
                      <a:lumOff val="50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accent2">
                <a:lumMod val="50000"/>
              </a:schemeClr>
            </a:solidFill>
            <a:round/>
          </a:ln>
          <a:effectLst/>
        </c:spPr>
        <c:txPr>
          <a:bodyPr rot="-60000000" spcFirstLastPara="1" vertOverflow="ellipsis" vert="horz" wrap="square" anchor="ctr" anchorCtr="1"/>
          <a:lstStyle/>
          <a:p>
            <a:pPr>
              <a:defRPr sz="1197" b="0" i="0" u="none" strike="noStrike" kern="1200" baseline="0">
                <a:solidFill>
                  <a:schemeClr val="accent2">
                    <a:lumMod val="50000"/>
                  </a:schemeClr>
                </a:solidFill>
                <a:latin typeface="+mn-lt"/>
                <a:ea typeface="+mn-ea"/>
                <a:cs typeface="+mn-cs"/>
              </a:defRPr>
            </a:pPr>
            <a:endParaRPr lang="en-US"/>
          </a:p>
        </c:txPr>
        <c:crossAx val="1003632127"/>
        <c:crosses val="autoZero"/>
        <c:auto val="1"/>
        <c:lblAlgn val="ctr"/>
        <c:lblOffset val="100"/>
        <c:noMultiLvlLbl val="0"/>
      </c:catAx>
      <c:valAx>
        <c:axId val="1003632127"/>
        <c:scaling>
          <c:orientation val="minMax"/>
        </c:scaling>
        <c:delete val="0"/>
        <c:axPos val="l"/>
        <c:majorGridlines>
          <c:spPr>
            <a:ln w="9525" cap="flat" cmpd="sng" algn="ctr">
              <a:solidFill>
                <a:schemeClr val="accent2">
                  <a:lumMod val="50000"/>
                </a:schemeClr>
              </a:soli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50000"/>
                        <a:lumOff val="50000"/>
                      </a:schemeClr>
                    </a:solidFill>
                    <a:latin typeface="+mn-lt"/>
                    <a:ea typeface="+mn-ea"/>
                    <a:cs typeface="+mn-cs"/>
                  </a:defRPr>
                </a:pPr>
                <a:r>
                  <a:rPr lang="en-US" dirty="0">
                    <a:solidFill>
                      <a:schemeClr val="accent2">
                        <a:lumMod val="50000"/>
                      </a:schemeClr>
                    </a:solidFill>
                  </a:rPr>
                  <a:t>Percentage of dropout children </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50000"/>
                      <a:lumOff val="50000"/>
                    </a:schemeClr>
                  </a:solidFill>
                  <a:latin typeface="+mn-lt"/>
                  <a:ea typeface="+mn-ea"/>
                  <a:cs typeface="+mn-cs"/>
                </a:defRPr>
              </a:pPr>
              <a:endParaRPr lang="en-US"/>
            </a:p>
          </c:txPr>
        </c:title>
        <c:numFmt formatCode="0.00%" sourceLinked="1"/>
        <c:majorTickMark val="none"/>
        <c:minorTickMark val="none"/>
        <c:tickLblPos val="nextTo"/>
        <c:spPr>
          <a:noFill/>
          <a:ln>
            <a:solidFill>
              <a:schemeClr val="accent2">
                <a:lumMod val="50000"/>
              </a:schemeClr>
            </a:solidFill>
          </a:ln>
          <a:effectLst/>
        </c:spPr>
        <c:txPr>
          <a:bodyPr rot="-60000000" spcFirstLastPara="1" vertOverflow="ellipsis" vert="horz" wrap="square" anchor="ctr" anchorCtr="1"/>
          <a:lstStyle/>
          <a:p>
            <a:pPr>
              <a:defRPr sz="1197" b="0" i="0" u="none" strike="noStrike" kern="1200" baseline="0">
                <a:solidFill>
                  <a:schemeClr val="accent2">
                    <a:lumMod val="50000"/>
                  </a:schemeClr>
                </a:solidFill>
                <a:latin typeface="+mn-lt"/>
                <a:ea typeface="+mn-ea"/>
                <a:cs typeface="+mn-cs"/>
              </a:defRPr>
            </a:pPr>
            <a:endParaRPr lang="en-US"/>
          </a:p>
        </c:txPr>
        <c:crossAx val="1003631711"/>
        <c:crosses val="autoZero"/>
        <c:crossBetween val="between"/>
      </c:valAx>
      <c:spPr>
        <a:solidFill>
          <a:schemeClr val="accent4">
            <a:lumMod val="40000"/>
            <a:lumOff val="60000"/>
          </a:schemeClr>
        </a:solid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accent2">
                  <a:lumMod val="5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40000"/>
        <a:lumOff val="6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[4000 screening data-edit.xlsx]Sheet1!PivotTable31</c:name>
    <c:fmtId val="6"/>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Sheet1!$AA$63:$AA$65</c:f>
              <c:strCache>
                <c:ptCount val="1"/>
                <c:pt idx="0">
                  <c:v>FEMALE - Average of compatibility reading level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Sheet1!$Z$66:$Z$75</c:f>
              <c:strCache>
                <c:ptCount val="9"/>
                <c:pt idx="0">
                  <c:v>1</c:v>
                </c:pt>
                <c:pt idx="1">
                  <c:v>2</c:v>
                </c:pt>
                <c:pt idx="2">
                  <c:v>3</c:v>
                </c:pt>
                <c:pt idx="3">
                  <c:v>4</c:v>
                </c:pt>
                <c:pt idx="4">
                  <c:v>5</c:v>
                </c:pt>
                <c:pt idx="5">
                  <c:v>6</c:v>
                </c:pt>
                <c:pt idx="6">
                  <c:v>7</c:v>
                </c:pt>
                <c:pt idx="7">
                  <c:v>8</c:v>
                </c:pt>
                <c:pt idx="8">
                  <c:v>9</c:v>
                </c:pt>
              </c:strCache>
            </c:strRef>
          </c:cat>
          <c:val>
            <c:numRef>
              <c:f>Sheet1!$AA$66:$AA$75</c:f>
              <c:numCache>
                <c:formatCode>General</c:formatCode>
                <c:ptCount val="9"/>
                <c:pt idx="0">
                  <c:v>1.0625</c:v>
                </c:pt>
                <c:pt idx="1">
                  <c:v>1.4387096774193548</c:v>
                </c:pt>
                <c:pt idx="2">
                  <c:v>1.5222929936305734</c:v>
                </c:pt>
                <c:pt idx="3">
                  <c:v>1.9802631578947369</c:v>
                </c:pt>
                <c:pt idx="4">
                  <c:v>2.2439024390243905</c:v>
                </c:pt>
                <c:pt idx="5">
                  <c:v>2.5741935483870968</c:v>
                </c:pt>
                <c:pt idx="6">
                  <c:v>2.4545454545454546</c:v>
                </c:pt>
                <c:pt idx="7">
                  <c:v>3.1333333333333333</c:v>
                </c:pt>
              </c:numCache>
            </c:numRef>
          </c:val>
          <c:extLst>
            <c:ext xmlns:c16="http://schemas.microsoft.com/office/drawing/2014/chart" uri="{C3380CC4-5D6E-409C-BE32-E72D297353CC}">
              <c16:uniqueId val="{00000000-54E8-4EA1-AC02-93B188D9409E}"/>
            </c:ext>
          </c:extLst>
        </c:ser>
        <c:ser>
          <c:idx val="1"/>
          <c:order val="1"/>
          <c:tx>
            <c:strRef>
              <c:f>Sheet1!$AB$63:$AB$65</c:f>
              <c:strCache>
                <c:ptCount val="1"/>
                <c:pt idx="0">
                  <c:v>FEMALE - Average of compatibility basic calculation level</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Sheet1!$Z$66:$Z$75</c:f>
              <c:strCache>
                <c:ptCount val="9"/>
                <c:pt idx="0">
                  <c:v>1</c:v>
                </c:pt>
                <c:pt idx="1">
                  <c:v>2</c:v>
                </c:pt>
                <c:pt idx="2">
                  <c:v>3</c:v>
                </c:pt>
                <c:pt idx="3">
                  <c:v>4</c:v>
                </c:pt>
                <c:pt idx="4">
                  <c:v>5</c:v>
                </c:pt>
                <c:pt idx="5">
                  <c:v>6</c:v>
                </c:pt>
                <c:pt idx="6">
                  <c:v>7</c:v>
                </c:pt>
                <c:pt idx="7">
                  <c:v>8</c:v>
                </c:pt>
                <c:pt idx="8">
                  <c:v>9</c:v>
                </c:pt>
              </c:strCache>
            </c:strRef>
          </c:cat>
          <c:val>
            <c:numRef>
              <c:f>Sheet1!$AB$66:$AB$75</c:f>
              <c:numCache>
                <c:formatCode>General</c:formatCode>
                <c:ptCount val="9"/>
                <c:pt idx="0">
                  <c:v>1.0416666666666667</c:v>
                </c:pt>
                <c:pt idx="1">
                  <c:v>1.4064516129032258</c:v>
                </c:pt>
                <c:pt idx="2">
                  <c:v>1.5031847133757963</c:v>
                </c:pt>
                <c:pt idx="3">
                  <c:v>1.875</c:v>
                </c:pt>
                <c:pt idx="4">
                  <c:v>2.0792682926829267</c:v>
                </c:pt>
                <c:pt idx="5">
                  <c:v>2.3677419354838709</c:v>
                </c:pt>
                <c:pt idx="6">
                  <c:v>2.2440191387559807</c:v>
                </c:pt>
                <c:pt idx="7">
                  <c:v>2.9333333333333331</c:v>
                </c:pt>
              </c:numCache>
            </c:numRef>
          </c:val>
          <c:extLst>
            <c:ext xmlns:c16="http://schemas.microsoft.com/office/drawing/2014/chart" uri="{C3380CC4-5D6E-409C-BE32-E72D297353CC}">
              <c16:uniqueId val="{00000001-54E8-4EA1-AC02-93B188D9409E}"/>
            </c:ext>
          </c:extLst>
        </c:ser>
        <c:ser>
          <c:idx val="2"/>
          <c:order val="2"/>
          <c:tx>
            <c:strRef>
              <c:f>Sheet1!$AC$63:$AC$65</c:f>
              <c:strCache>
                <c:ptCount val="1"/>
                <c:pt idx="0">
                  <c:v>MALE - Average of compatibility reading level</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Sheet1!$Z$66:$Z$75</c:f>
              <c:strCache>
                <c:ptCount val="9"/>
                <c:pt idx="0">
                  <c:v>1</c:v>
                </c:pt>
                <c:pt idx="1">
                  <c:v>2</c:v>
                </c:pt>
                <c:pt idx="2">
                  <c:v>3</c:v>
                </c:pt>
                <c:pt idx="3">
                  <c:v>4</c:v>
                </c:pt>
                <c:pt idx="4">
                  <c:v>5</c:v>
                </c:pt>
                <c:pt idx="5">
                  <c:v>6</c:v>
                </c:pt>
                <c:pt idx="6">
                  <c:v>7</c:v>
                </c:pt>
                <c:pt idx="7">
                  <c:v>8</c:v>
                </c:pt>
                <c:pt idx="8">
                  <c:v>9</c:v>
                </c:pt>
              </c:strCache>
            </c:strRef>
          </c:cat>
          <c:val>
            <c:numRef>
              <c:f>Sheet1!$AC$66:$AC$75</c:f>
              <c:numCache>
                <c:formatCode>General</c:formatCode>
                <c:ptCount val="9"/>
                <c:pt idx="0">
                  <c:v>1.0833333333333333</c:v>
                </c:pt>
                <c:pt idx="1">
                  <c:v>1.4759358288770053</c:v>
                </c:pt>
                <c:pt idx="2">
                  <c:v>1.6258992805755397</c:v>
                </c:pt>
                <c:pt idx="3">
                  <c:v>1.9393939393939394</c:v>
                </c:pt>
                <c:pt idx="4">
                  <c:v>2.0846153846153848</c:v>
                </c:pt>
                <c:pt idx="5">
                  <c:v>2.4827586206896552</c:v>
                </c:pt>
                <c:pt idx="6">
                  <c:v>2.5794871794871796</c:v>
                </c:pt>
                <c:pt idx="7">
                  <c:v>3.2765957446808511</c:v>
                </c:pt>
                <c:pt idx="8">
                  <c:v>2.8</c:v>
                </c:pt>
              </c:numCache>
            </c:numRef>
          </c:val>
          <c:extLst>
            <c:ext xmlns:c16="http://schemas.microsoft.com/office/drawing/2014/chart" uri="{C3380CC4-5D6E-409C-BE32-E72D297353CC}">
              <c16:uniqueId val="{00000002-54E8-4EA1-AC02-93B188D9409E}"/>
            </c:ext>
          </c:extLst>
        </c:ser>
        <c:ser>
          <c:idx val="3"/>
          <c:order val="3"/>
          <c:tx>
            <c:strRef>
              <c:f>Sheet1!$AD$63:$AD$65</c:f>
              <c:strCache>
                <c:ptCount val="1"/>
                <c:pt idx="0">
                  <c:v>MALE - Average of compatibility basic calculation level</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Sheet1!$Z$66:$Z$75</c:f>
              <c:strCache>
                <c:ptCount val="9"/>
                <c:pt idx="0">
                  <c:v>1</c:v>
                </c:pt>
                <c:pt idx="1">
                  <c:v>2</c:v>
                </c:pt>
                <c:pt idx="2">
                  <c:v>3</c:v>
                </c:pt>
                <c:pt idx="3">
                  <c:v>4</c:v>
                </c:pt>
                <c:pt idx="4">
                  <c:v>5</c:v>
                </c:pt>
                <c:pt idx="5">
                  <c:v>6</c:v>
                </c:pt>
                <c:pt idx="6">
                  <c:v>7</c:v>
                </c:pt>
                <c:pt idx="7">
                  <c:v>8</c:v>
                </c:pt>
                <c:pt idx="8">
                  <c:v>9</c:v>
                </c:pt>
              </c:strCache>
            </c:strRef>
          </c:cat>
          <c:val>
            <c:numRef>
              <c:f>Sheet1!$AD$66:$AD$75</c:f>
              <c:numCache>
                <c:formatCode>General</c:formatCode>
                <c:ptCount val="9"/>
                <c:pt idx="0">
                  <c:v>1.0833333333333333</c:v>
                </c:pt>
                <c:pt idx="1">
                  <c:v>1.46524064171123</c:v>
                </c:pt>
                <c:pt idx="2">
                  <c:v>1.6330935251798562</c:v>
                </c:pt>
                <c:pt idx="3">
                  <c:v>1.8242424242424242</c:v>
                </c:pt>
                <c:pt idx="4">
                  <c:v>1.9923076923076923</c:v>
                </c:pt>
                <c:pt idx="5">
                  <c:v>2.2689655172413792</c:v>
                </c:pt>
                <c:pt idx="6">
                  <c:v>2.4923076923076923</c:v>
                </c:pt>
                <c:pt idx="7">
                  <c:v>3.2446808510638299</c:v>
                </c:pt>
                <c:pt idx="8">
                  <c:v>3</c:v>
                </c:pt>
              </c:numCache>
            </c:numRef>
          </c:val>
          <c:extLst>
            <c:ext xmlns:c16="http://schemas.microsoft.com/office/drawing/2014/chart" uri="{C3380CC4-5D6E-409C-BE32-E72D297353CC}">
              <c16:uniqueId val="{00000003-54E8-4EA1-AC02-93B188D9409E}"/>
            </c:ext>
          </c:extLst>
        </c:ser>
        <c:dLbls>
          <c:dLblPos val="ctr"/>
          <c:showLegendKey val="0"/>
          <c:showVal val="1"/>
          <c:showCatName val="0"/>
          <c:showSerName val="0"/>
          <c:showPercent val="0"/>
          <c:showBubbleSize val="0"/>
        </c:dLbls>
        <c:gapWidth val="150"/>
        <c:overlap val="100"/>
        <c:axId val="1982655279"/>
        <c:axId val="1982659439"/>
      </c:barChart>
      <c:catAx>
        <c:axId val="1982655279"/>
        <c:scaling>
          <c:orientation val="minMax"/>
        </c:scaling>
        <c:delete val="0"/>
        <c:axPos val="l"/>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US" sz="1400" dirty="0"/>
                  <a:t>Class</a:t>
                </a:r>
                <a:endParaRPr lang="en-US" dirty="0"/>
              </a:p>
            </c:rich>
          </c:tx>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rgbClr val="003366"/>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82659439"/>
        <c:crosses val="autoZero"/>
        <c:auto val="1"/>
        <c:lblAlgn val="ctr"/>
        <c:lblOffset val="100"/>
        <c:noMultiLvlLbl val="0"/>
      </c:catAx>
      <c:valAx>
        <c:axId val="1982659439"/>
        <c:scaling>
          <c:orientation val="minMax"/>
        </c:scaling>
        <c:delete val="0"/>
        <c:axPos val="b"/>
        <c:numFmt formatCode="General" sourceLinked="1"/>
        <c:majorTickMark val="none"/>
        <c:minorTickMark val="none"/>
        <c:tickLblPos val="nextTo"/>
        <c:spPr>
          <a:noFill/>
          <a:ln>
            <a:solidFill>
              <a:srgbClr val="00336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826552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US" dirty="0">
                <a:latin typeface="Times New Roman" panose="02020603050405020304" pitchFamily="18" charset="0"/>
                <a:cs typeface="Times New Roman" panose="02020603050405020304" pitchFamily="18" charset="0"/>
              </a:rPr>
              <a:t>Learning Level</a:t>
            </a:r>
          </a:p>
          <a:p>
            <a:pPr>
              <a:defRPr>
                <a:latin typeface="Times New Roman" panose="02020603050405020304" pitchFamily="18" charset="0"/>
                <a:cs typeface="Times New Roman" panose="02020603050405020304" pitchFamily="18" charset="0"/>
              </a:defRPr>
            </a:pPr>
            <a:r>
              <a:rPr lang="en-US" dirty="0">
                <a:latin typeface="Times New Roman" panose="02020603050405020304" pitchFamily="18" charset="0"/>
                <a:cs typeface="Times New Roman" panose="02020603050405020304" pitchFamily="18" charset="0"/>
              </a:rPr>
              <a:t>(base 4000)</a:t>
            </a:r>
          </a:p>
        </c:rich>
      </c:tx>
      <c:layout>
        <c:manualLayout>
          <c:xMode val="edge"/>
          <c:yMode val="edge"/>
          <c:x val="0.35403513137085474"/>
          <c:y val="3.743384432183245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Sheet1!$AC$89</c:f>
              <c:strCache>
                <c:ptCount val="1"/>
                <c:pt idx="0">
                  <c:v>Count of  Child Name</c:v>
                </c:pt>
              </c:strCache>
            </c:strRef>
          </c:tx>
          <c:spPr>
            <a:gradFill rotWithShape="1">
              <a:gsLst>
                <a:gs pos="0">
                  <a:schemeClr val="accent6">
                    <a:tint val="77000"/>
                    <a:satMod val="103000"/>
                    <a:lumMod val="102000"/>
                    <a:tint val="94000"/>
                  </a:schemeClr>
                </a:gs>
                <a:gs pos="50000">
                  <a:schemeClr val="accent6">
                    <a:tint val="77000"/>
                    <a:satMod val="110000"/>
                    <a:lumMod val="100000"/>
                    <a:shade val="100000"/>
                  </a:schemeClr>
                </a:gs>
                <a:gs pos="100000">
                  <a:schemeClr val="accent6">
                    <a:tint val="77000"/>
                    <a:lumMod val="99000"/>
                    <a:satMod val="120000"/>
                    <a:shade val="78000"/>
                  </a:schemeClr>
                </a:gs>
              </a:gsLst>
              <a:lin ang="5400000" scaled="0"/>
            </a:gradFill>
            <a:ln>
              <a:noFill/>
            </a:ln>
            <a:effectLst/>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Sheet1!$AB$90:$AB$93</c:f>
              <c:strCache>
                <c:ptCount val="4"/>
                <c:pt idx="0">
                  <c:v>EXCELLENT</c:v>
                </c:pt>
                <c:pt idx="1">
                  <c:v>GOOD</c:v>
                </c:pt>
                <c:pt idx="2">
                  <c:v>MODERATE</c:v>
                </c:pt>
                <c:pt idx="3">
                  <c:v>POOR</c:v>
                </c:pt>
              </c:strCache>
            </c:strRef>
          </c:cat>
          <c:val>
            <c:numRef>
              <c:f>Sheet1!$AC$90:$AC$93</c:f>
              <c:numCache>
                <c:formatCode>General</c:formatCode>
                <c:ptCount val="4"/>
                <c:pt idx="0">
                  <c:v>31</c:v>
                </c:pt>
                <c:pt idx="1">
                  <c:v>158</c:v>
                </c:pt>
                <c:pt idx="2">
                  <c:v>687</c:v>
                </c:pt>
                <c:pt idx="3">
                  <c:v>3124</c:v>
                </c:pt>
              </c:numCache>
            </c:numRef>
          </c:val>
          <c:extLst>
            <c:ext xmlns:c16="http://schemas.microsoft.com/office/drawing/2014/chart" uri="{C3380CC4-5D6E-409C-BE32-E72D297353CC}">
              <c16:uniqueId val="{00000000-4435-4511-869F-BC59E4911029}"/>
            </c:ext>
          </c:extLst>
        </c:ser>
        <c:ser>
          <c:idx val="1"/>
          <c:order val="1"/>
          <c:tx>
            <c:strRef>
              <c:f>Sheet1!$AD$89</c:f>
              <c:strCache>
                <c:ptCount val="1"/>
                <c:pt idx="0">
                  <c:v>Count of  Child Name</c:v>
                </c:pt>
              </c:strCache>
            </c:strRef>
          </c:tx>
          <c:spPr>
            <a:gradFill rotWithShape="1">
              <a:gsLst>
                <a:gs pos="0">
                  <a:schemeClr val="accent6">
                    <a:shade val="76000"/>
                    <a:satMod val="103000"/>
                    <a:lumMod val="102000"/>
                    <a:tint val="94000"/>
                  </a:schemeClr>
                </a:gs>
                <a:gs pos="50000">
                  <a:schemeClr val="accent6">
                    <a:shade val="76000"/>
                    <a:satMod val="110000"/>
                    <a:lumMod val="100000"/>
                    <a:shade val="100000"/>
                  </a:schemeClr>
                </a:gs>
                <a:gs pos="100000">
                  <a:schemeClr val="accent6">
                    <a:shade val="76000"/>
                    <a:lumMod val="99000"/>
                    <a:satMod val="120000"/>
                    <a:shade val="78000"/>
                  </a:schemeClr>
                </a:gs>
              </a:gsLst>
              <a:lin ang="5400000" scaled="0"/>
            </a:gradFill>
            <a:ln>
              <a:noFill/>
            </a:ln>
            <a:effectLst/>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Sheet1!$AB$90:$AB$93</c:f>
              <c:strCache>
                <c:ptCount val="4"/>
                <c:pt idx="0">
                  <c:v>EXCELLENT</c:v>
                </c:pt>
                <c:pt idx="1">
                  <c:v>GOOD</c:v>
                </c:pt>
                <c:pt idx="2">
                  <c:v>MODERATE</c:v>
                </c:pt>
                <c:pt idx="3">
                  <c:v>POOR</c:v>
                </c:pt>
              </c:strCache>
            </c:strRef>
          </c:cat>
          <c:val>
            <c:numRef>
              <c:f>Sheet1!$AD$90:$AD$93</c:f>
              <c:numCache>
                <c:formatCode>General</c:formatCode>
                <c:ptCount val="4"/>
                <c:pt idx="0">
                  <c:v>57</c:v>
                </c:pt>
                <c:pt idx="1">
                  <c:v>310</c:v>
                </c:pt>
                <c:pt idx="2">
                  <c:v>635</c:v>
                </c:pt>
                <c:pt idx="3">
                  <c:v>2998</c:v>
                </c:pt>
              </c:numCache>
            </c:numRef>
          </c:val>
          <c:extLst>
            <c:ext xmlns:c16="http://schemas.microsoft.com/office/drawing/2014/chart" uri="{C3380CC4-5D6E-409C-BE32-E72D297353CC}">
              <c16:uniqueId val="{00000001-4435-4511-869F-BC59E4911029}"/>
            </c:ext>
          </c:extLst>
        </c:ser>
        <c:dLbls>
          <c:showLegendKey val="0"/>
          <c:showVal val="1"/>
          <c:showCatName val="0"/>
          <c:showSerName val="0"/>
          <c:showPercent val="0"/>
          <c:showBubbleSize val="0"/>
        </c:dLbls>
        <c:gapWidth val="150"/>
        <c:shape val="box"/>
        <c:axId val="1982359711"/>
        <c:axId val="1982363039"/>
        <c:axId val="0"/>
      </c:bar3DChart>
      <c:catAx>
        <c:axId val="1982359711"/>
        <c:scaling>
          <c:orientation val="minMax"/>
        </c:scaling>
        <c:delete val="0"/>
        <c:axPos val="b"/>
        <c:numFmt formatCode="General" sourceLinked="1"/>
        <c:majorTickMark val="none"/>
        <c:minorTickMark val="none"/>
        <c:tickLblPos val="nextTo"/>
        <c:spPr>
          <a:noFill/>
          <a:ln w="9525" cap="flat" cmpd="sng" algn="ctr">
            <a:solidFill>
              <a:schemeClr val="accent6">
                <a:lumMod val="50000"/>
              </a:schemeClr>
            </a:solidFill>
            <a:round/>
          </a:ln>
          <a:effectLst/>
        </c:spPr>
        <c:txPr>
          <a:bodyPr rot="-60000000" spcFirstLastPara="1" vertOverflow="ellipsis" vert="horz" wrap="square" anchor="ctr" anchorCtr="1"/>
          <a:lstStyle/>
          <a:p>
            <a:pPr>
              <a:defRPr sz="1197" b="0" i="0" u="none" strike="noStrike" kern="1200" baseline="0">
                <a:solidFill>
                  <a:schemeClr val="accent6">
                    <a:lumMod val="50000"/>
                  </a:schemeClr>
                </a:solidFill>
                <a:latin typeface="+mn-lt"/>
                <a:ea typeface="+mn-ea"/>
                <a:cs typeface="+mn-cs"/>
              </a:defRPr>
            </a:pPr>
            <a:endParaRPr lang="en-US"/>
          </a:p>
        </c:txPr>
        <c:crossAx val="1982363039"/>
        <c:crosses val="autoZero"/>
        <c:auto val="1"/>
        <c:lblAlgn val="ctr"/>
        <c:lblOffset val="100"/>
        <c:noMultiLvlLbl val="0"/>
      </c:catAx>
      <c:valAx>
        <c:axId val="1982363039"/>
        <c:scaling>
          <c:orientation val="minMax"/>
        </c:scaling>
        <c:delete val="0"/>
        <c:axPos val="l"/>
        <c:majorGridlines>
          <c:spPr>
            <a:ln w="9525" cap="flat" cmpd="sng" algn="ctr">
              <a:solidFill>
                <a:schemeClr val="accent6">
                  <a:lumMod val="60000"/>
                  <a:lumOff val="40000"/>
                </a:schemeClr>
              </a:solidFill>
              <a:round/>
            </a:ln>
            <a:effectLst/>
          </c:spPr>
        </c:majorGridlines>
        <c:numFmt formatCode="General" sourceLinked="1"/>
        <c:majorTickMark val="none"/>
        <c:minorTickMark val="none"/>
        <c:tickLblPos val="nextTo"/>
        <c:spPr>
          <a:noFill/>
          <a:ln>
            <a:solidFill>
              <a:schemeClr val="accent6">
                <a:lumMod val="50000"/>
              </a:schemeClr>
            </a:solidFill>
          </a:ln>
          <a:effectLst/>
        </c:spPr>
        <c:txPr>
          <a:bodyPr rot="-60000000" spcFirstLastPara="1" vertOverflow="ellipsis" vert="horz" wrap="square" anchor="ctr" anchorCtr="1"/>
          <a:lstStyle/>
          <a:p>
            <a:pPr>
              <a:defRPr sz="1197" b="0" i="0" u="none" strike="noStrike" kern="1200" baseline="0">
                <a:solidFill>
                  <a:schemeClr val="accent6">
                    <a:lumMod val="50000"/>
                  </a:schemeClr>
                </a:solidFill>
                <a:latin typeface="+mn-lt"/>
                <a:ea typeface="+mn-ea"/>
                <a:cs typeface="+mn-cs"/>
              </a:defRPr>
            </a:pPr>
            <a:endParaRPr lang="en-US"/>
          </a:p>
        </c:txPr>
        <c:crossAx val="19823597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345">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34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12.xml><?xml version="1.0" encoding="utf-8"?>
<cs:chartStyle xmlns:cs="http://schemas.microsoft.com/office/drawing/2012/chartStyle" xmlns:a="http://schemas.openxmlformats.org/drawingml/2006/main" id="290">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958B9-8CD5-4E1A-9BA1-6DFFA7814B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59B21A-C264-4469-A8C8-731CAAD97A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FCB0E4-E538-4AAF-8CBF-A29E76CB884A}"/>
              </a:ext>
            </a:extLst>
          </p:cNvPr>
          <p:cNvSpPr>
            <a:spLocks noGrp="1"/>
          </p:cNvSpPr>
          <p:nvPr>
            <p:ph type="dt" sz="half" idx="10"/>
          </p:nvPr>
        </p:nvSpPr>
        <p:spPr/>
        <p:txBody>
          <a:bodyPr/>
          <a:lstStyle/>
          <a:p>
            <a:fld id="{2E5E22E0-8613-436F-A782-EC4D13C14CE2}" type="datetimeFigureOut">
              <a:rPr lang="en-US" smtClean="0"/>
              <a:t>9/11/2026</a:t>
            </a:fld>
            <a:endParaRPr lang="en-US"/>
          </a:p>
        </p:txBody>
      </p:sp>
      <p:sp>
        <p:nvSpPr>
          <p:cNvPr id="5" name="Footer Placeholder 4">
            <a:extLst>
              <a:ext uri="{FF2B5EF4-FFF2-40B4-BE49-F238E27FC236}">
                <a16:creationId xmlns:a16="http://schemas.microsoft.com/office/drawing/2014/main" id="{2C5AE00A-6FA9-4B4E-9535-3F7AE6CA8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BC2B2-0BC1-4D42-83CB-1B65BCCE6484}"/>
              </a:ext>
            </a:extLst>
          </p:cNvPr>
          <p:cNvSpPr>
            <a:spLocks noGrp="1"/>
          </p:cNvSpPr>
          <p:nvPr>
            <p:ph type="sldNum" sz="quarter" idx="12"/>
          </p:nvPr>
        </p:nvSpPr>
        <p:spPr/>
        <p:txBody>
          <a:bodyPr/>
          <a:lstStyle/>
          <a:p>
            <a:fld id="{3658713B-D490-4BF6-8781-3DB5B3D48171}" type="slidenum">
              <a:rPr lang="en-US" smtClean="0"/>
              <a:t>‹#›</a:t>
            </a:fld>
            <a:endParaRPr lang="en-US"/>
          </a:p>
        </p:txBody>
      </p:sp>
    </p:spTree>
    <p:extLst>
      <p:ext uri="{BB962C8B-B14F-4D97-AF65-F5344CB8AC3E}">
        <p14:creationId xmlns:p14="http://schemas.microsoft.com/office/powerpoint/2010/main" val="7585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8F91A-C7A1-48EB-AB1E-3CE60A602A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34A6D5-4B7F-478A-B896-549CB3F075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1289BA-306D-4609-8B87-64854E0174E3}"/>
              </a:ext>
            </a:extLst>
          </p:cNvPr>
          <p:cNvSpPr>
            <a:spLocks noGrp="1"/>
          </p:cNvSpPr>
          <p:nvPr>
            <p:ph type="dt" sz="half" idx="10"/>
          </p:nvPr>
        </p:nvSpPr>
        <p:spPr/>
        <p:txBody>
          <a:bodyPr/>
          <a:lstStyle/>
          <a:p>
            <a:fld id="{2E5E22E0-8613-436F-A782-EC4D13C14CE2}" type="datetimeFigureOut">
              <a:rPr lang="en-US" smtClean="0"/>
              <a:t>9/11/2026</a:t>
            </a:fld>
            <a:endParaRPr lang="en-US"/>
          </a:p>
        </p:txBody>
      </p:sp>
      <p:sp>
        <p:nvSpPr>
          <p:cNvPr id="5" name="Footer Placeholder 4">
            <a:extLst>
              <a:ext uri="{FF2B5EF4-FFF2-40B4-BE49-F238E27FC236}">
                <a16:creationId xmlns:a16="http://schemas.microsoft.com/office/drawing/2014/main" id="{38603308-9041-47DD-9580-071661BD9B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86E08A-8316-4D4A-AF64-CCE4849FEABA}"/>
              </a:ext>
            </a:extLst>
          </p:cNvPr>
          <p:cNvSpPr>
            <a:spLocks noGrp="1"/>
          </p:cNvSpPr>
          <p:nvPr>
            <p:ph type="sldNum" sz="quarter" idx="12"/>
          </p:nvPr>
        </p:nvSpPr>
        <p:spPr/>
        <p:txBody>
          <a:bodyPr/>
          <a:lstStyle/>
          <a:p>
            <a:fld id="{3658713B-D490-4BF6-8781-3DB5B3D48171}" type="slidenum">
              <a:rPr lang="en-US" smtClean="0"/>
              <a:t>‹#›</a:t>
            </a:fld>
            <a:endParaRPr lang="en-US"/>
          </a:p>
        </p:txBody>
      </p:sp>
    </p:spTree>
    <p:extLst>
      <p:ext uri="{BB962C8B-B14F-4D97-AF65-F5344CB8AC3E}">
        <p14:creationId xmlns:p14="http://schemas.microsoft.com/office/powerpoint/2010/main" val="1509813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DF281-CA20-46D9-A518-87AE8A1D48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0A6C74-9098-40B8-AC7C-8587A9BACB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2D048E-8BB2-4163-82F1-FD114962BF21}"/>
              </a:ext>
            </a:extLst>
          </p:cNvPr>
          <p:cNvSpPr>
            <a:spLocks noGrp="1"/>
          </p:cNvSpPr>
          <p:nvPr>
            <p:ph type="dt" sz="half" idx="10"/>
          </p:nvPr>
        </p:nvSpPr>
        <p:spPr/>
        <p:txBody>
          <a:bodyPr/>
          <a:lstStyle/>
          <a:p>
            <a:fld id="{2E5E22E0-8613-436F-A782-EC4D13C14CE2}" type="datetimeFigureOut">
              <a:rPr lang="en-US" smtClean="0"/>
              <a:t>9/11/2026</a:t>
            </a:fld>
            <a:endParaRPr lang="en-US"/>
          </a:p>
        </p:txBody>
      </p:sp>
      <p:sp>
        <p:nvSpPr>
          <p:cNvPr id="5" name="Footer Placeholder 4">
            <a:extLst>
              <a:ext uri="{FF2B5EF4-FFF2-40B4-BE49-F238E27FC236}">
                <a16:creationId xmlns:a16="http://schemas.microsoft.com/office/drawing/2014/main" id="{BBD71CCE-1988-46AE-B430-8C137742E3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95B959-80D4-4F17-AB57-59304815F06A}"/>
              </a:ext>
            </a:extLst>
          </p:cNvPr>
          <p:cNvSpPr>
            <a:spLocks noGrp="1"/>
          </p:cNvSpPr>
          <p:nvPr>
            <p:ph type="sldNum" sz="quarter" idx="12"/>
          </p:nvPr>
        </p:nvSpPr>
        <p:spPr/>
        <p:txBody>
          <a:bodyPr/>
          <a:lstStyle/>
          <a:p>
            <a:fld id="{3658713B-D490-4BF6-8781-3DB5B3D48171}" type="slidenum">
              <a:rPr lang="en-US" smtClean="0"/>
              <a:t>‹#›</a:t>
            </a:fld>
            <a:endParaRPr lang="en-US"/>
          </a:p>
        </p:txBody>
      </p:sp>
    </p:spTree>
    <p:extLst>
      <p:ext uri="{BB962C8B-B14F-4D97-AF65-F5344CB8AC3E}">
        <p14:creationId xmlns:p14="http://schemas.microsoft.com/office/powerpoint/2010/main" val="40883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ABB19-0319-4290-8FFF-171A80F1C4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E602E0-7D36-4B03-9687-BD528F9A46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C090D4-FE41-41A5-B87D-3E657864CF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2AEED3-3136-4980-838F-9E748A4F2843}"/>
              </a:ext>
            </a:extLst>
          </p:cNvPr>
          <p:cNvSpPr>
            <a:spLocks noGrp="1"/>
          </p:cNvSpPr>
          <p:nvPr>
            <p:ph type="dt" sz="half" idx="10"/>
          </p:nvPr>
        </p:nvSpPr>
        <p:spPr/>
        <p:txBody>
          <a:bodyPr/>
          <a:lstStyle/>
          <a:p>
            <a:fld id="{2E5E22E0-8613-436F-A782-EC4D13C14CE2}" type="datetimeFigureOut">
              <a:rPr lang="en-US" smtClean="0"/>
              <a:t>9/11/2026</a:t>
            </a:fld>
            <a:endParaRPr lang="en-US"/>
          </a:p>
        </p:txBody>
      </p:sp>
      <p:sp>
        <p:nvSpPr>
          <p:cNvPr id="6" name="Footer Placeholder 5">
            <a:extLst>
              <a:ext uri="{FF2B5EF4-FFF2-40B4-BE49-F238E27FC236}">
                <a16:creationId xmlns:a16="http://schemas.microsoft.com/office/drawing/2014/main" id="{FE4723FE-F038-4102-8630-4D5F9BF368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4B75F6-CBF0-4276-94C4-C72711662798}"/>
              </a:ext>
            </a:extLst>
          </p:cNvPr>
          <p:cNvSpPr>
            <a:spLocks noGrp="1"/>
          </p:cNvSpPr>
          <p:nvPr>
            <p:ph type="sldNum" sz="quarter" idx="12"/>
          </p:nvPr>
        </p:nvSpPr>
        <p:spPr/>
        <p:txBody>
          <a:bodyPr/>
          <a:lstStyle/>
          <a:p>
            <a:fld id="{3658713B-D490-4BF6-8781-3DB5B3D48171}" type="slidenum">
              <a:rPr lang="en-US" smtClean="0"/>
              <a:t>‹#›</a:t>
            </a:fld>
            <a:endParaRPr lang="en-US"/>
          </a:p>
        </p:txBody>
      </p:sp>
    </p:spTree>
    <p:extLst>
      <p:ext uri="{BB962C8B-B14F-4D97-AF65-F5344CB8AC3E}">
        <p14:creationId xmlns:p14="http://schemas.microsoft.com/office/powerpoint/2010/main" val="1881773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D3474-A8E4-4E05-999B-2255A20058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5AF3E7-426B-4BD3-B166-1B96C3D21B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D884DA-1727-4CA2-8B19-259A49490F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7C4064-7843-480D-BABE-90D8427958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5BC560-6338-4968-837F-3D984A42AA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A57B1B-09F7-4926-99AC-F88E59373148}"/>
              </a:ext>
            </a:extLst>
          </p:cNvPr>
          <p:cNvSpPr>
            <a:spLocks noGrp="1"/>
          </p:cNvSpPr>
          <p:nvPr>
            <p:ph type="dt" sz="half" idx="10"/>
          </p:nvPr>
        </p:nvSpPr>
        <p:spPr/>
        <p:txBody>
          <a:bodyPr/>
          <a:lstStyle/>
          <a:p>
            <a:fld id="{2E5E22E0-8613-436F-A782-EC4D13C14CE2}" type="datetimeFigureOut">
              <a:rPr lang="en-US" smtClean="0"/>
              <a:t>9/11/2026</a:t>
            </a:fld>
            <a:endParaRPr lang="en-US"/>
          </a:p>
        </p:txBody>
      </p:sp>
      <p:sp>
        <p:nvSpPr>
          <p:cNvPr id="8" name="Footer Placeholder 7">
            <a:extLst>
              <a:ext uri="{FF2B5EF4-FFF2-40B4-BE49-F238E27FC236}">
                <a16:creationId xmlns:a16="http://schemas.microsoft.com/office/drawing/2014/main" id="{5C988B36-458E-4C27-8CFB-C7C26881C3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E44C55-2363-4BC5-82C1-DE1453B7574E}"/>
              </a:ext>
            </a:extLst>
          </p:cNvPr>
          <p:cNvSpPr>
            <a:spLocks noGrp="1"/>
          </p:cNvSpPr>
          <p:nvPr>
            <p:ph type="sldNum" sz="quarter" idx="12"/>
          </p:nvPr>
        </p:nvSpPr>
        <p:spPr/>
        <p:txBody>
          <a:bodyPr/>
          <a:lstStyle/>
          <a:p>
            <a:fld id="{3658713B-D490-4BF6-8781-3DB5B3D48171}" type="slidenum">
              <a:rPr lang="en-US" smtClean="0"/>
              <a:t>‹#›</a:t>
            </a:fld>
            <a:endParaRPr lang="en-US"/>
          </a:p>
        </p:txBody>
      </p:sp>
    </p:spTree>
    <p:extLst>
      <p:ext uri="{BB962C8B-B14F-4D97-AF65-F5344CB8AC3E}">
        <p14:creationId xmlns:p14="http://schemas.microsoft.com/office/powerpoint/2010/main" val="2036621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A24CF-4B70-4ABC-9A08-518D01D1C3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B14C43-B988-44D7-A4DC-BFA6FC43A984}"/>
              </a:ext>
            </a:extLst>
          </p:cNvPr>
          <p:cNvSpPr>
            <a:spLocks noGrp="1"/>
          </p:cNvSpPr>
          <p:nvPr>
            <p:ph type="dt" sz="half" idx="10"/>
          </p:nvPr>
        </p:nvSpPr>
        <p:spPr/>
        <p:txBody>
          <a:bodyPr/>
          <a:lstStyle/>
          <a:p>
            <a:fld id="{2E5E22E0-8613-436F-A782-EC4D13C14CE2}" type="datetimeFigureOut">
              <a:rPr lang="en-US" smtClean="0"/>
              <a:t>9/11/2026</a:t>
            </a:fld>
            <a:endParaRPr lang="en-US"/>
          </a:p>
        </p:txBody>
      </p:sp>
      <p:sp>
        <p:nvSpPr>
          <p:cNvPr id="4" name="Footer Placeholder 3">
            <a:extLst>
              <a:ext uri="{FF2B5EF4-FFF2-40B4-BE49-F238E27FC236}">
                <a16:creationId xmlns:a16="http://schemas.microsoft.com/office/drawing/2014/main" id="{38FFA16B-F5FA-4F39-A31B-264648E026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43390E-E8D6-4BA9-BF5E-254EEB466293}"/>
              </a:ext>
            </a:extLst>
          </p:cNvPr>
          <p:cNvSpPr>
            <a:spLocks noGrp="1"/>
          </p:cNvSpPr>
          <p:nvPr>
            <p:ph type="sldNum" sz="quarter" idx="12"/>
          </p:nvPr>
        </p:nvSpPr>
        <p:spPr/>
        <p:txBody>
          <a:bodyPr/>
          <a:lstStyle/>
          <a:p>
            <a:fld id="{3658713B-D490-4BF6-8781-3DB5B3D48171}" type="slidenum">
              <a:rPr lang="en-US" smtClean="0"/>
              <a:t>‹#›</a:t>
            </a:fld>
            <a:endParaRPr lang="en-US"/>
          </a:p>
        </p:txBody>
      </p:sp>
    </p:spTree>
    <p:extLst>
      <p:ext uri="{BB962C8B-B14F-4D97-AF65-F5344CB8AC3E}">
        <p14:creationId xmlns:p14="http://schemas.microsoft.com/office/powerpoint/2010/main" val="2457362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FA90AD-414E-40B8-B562-1E3DFF4FDD6D}"/>
              </a:ext>
            </a:extLst>
          </p:cNvPr>
          <p:cNvSpPr>
            <a:spLocks noGrp="1"/>
          </p:cNvSpPr>
          <p:nvPr>
            <p:ph type="dt" sz="half" idx="10"/>
          </p:nvPr>
        </p:nvSpPr>
        <p:spPr/>
        <p:txBody>
          <a:bodyPr/>
          <a:lstStyle/>
          <a:p>
            <a:fld id="{2E5E22E0-8613-436F-A782-EC4D13C14CE2}" type="datetimeFigureOut">
              <a:rPr lang="en-US" smtClean="0"/>
              <a:t>9/11/2026</a:t>
            </a:fld>
            <a:endParaRPr lang="en-US"/>
          </a:p>
        </p:txBody>
      </p:sp>
      <p:sp>
        <p:nvSpPr>
          <p:cNvPr id="3" name="Footer Placeholder 2">
            <a:extLst>
              <a:ext uri="{FF2B5EF4-FFF2-40B4-BE49-F238E27FC236}">
                <a16:creationId xmlns:a16="http://schemas.microsoft.com/office/drawing/2014/main" id="{10487AB6-C93F-4A71-9F42-EAE842A01B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1272F4-36E8-405F-94BF-EFA223F569DF}"/>
              </a:ext>
            </a:extLst>
          </p:cNvPr>
          <p:cNvSpPr>
            <a:spLocks noGrp="1"/>
          </p:cNvSpPr>
          <p:nvPr>
            <p:ph type="sldNum" sz="quarter" idx="12"/>
          </p:nvPr>
        </p:nvSpPr>
        <p:spPr/>
        <p:txBody>
          <a:bodyPr/>
          <a:lstStyle/>
          <a:p>
            <a:fld id="{3658713B-D490-4BF6-8781-3DB5B3D48171}" type="slidenum">
              <a:rPr lang="en-US" smtClean="0"/>
              <a:t>‹#›</a:t>
            </a:fld>
            <a:endParaRPr lang="en-US"/>
          </a:p>
        </p:txBody>
      </p:sp>
    </p:spTree>
    <p:extLst>
      <p:ext uri="{BB962C8B-B14F-4D97-AF65-F5344CB8AC3E}">
        <p14:creationId xmlns:p14="http://schemas.microsoft.com/office/powerpoint/2010/main" val="2525744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32441-5C4F-41E7-8E53-31A71AFEAE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EDA28A-6755-4B9A-8044-BE9BAF0FA5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E6F5C4-2AA9-42F7-89E3-935BF8DA0E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DEA2E6-5864-4DB0-B78C-40258A7A0695}"/>
              </a:ext>
            </a:extLst>
          </p:cNvPr>
          <p:cNvSpPr>
            <a:spLocks noGrp="1"/>
          </p:cNvSpPr>
          <p:nvPr>
            <p:ph type="dt" sz="half" idx="10"/>
          </p:nvPr>
        </p:nvSpPr>
        <p:spPr/>
        <p:txBody>
          <a:bodyPr/>
          <a:lstStyle/>
          <a:p>
            <a:fld id="{2E5E22E0-8613-436F-A782-EC4D13C14CE2}" type="datetimeFigureOut">
              <a:rPr lang="en-US" smtClean="0"/>
              <a:t>9/11/2026</a:t>
            </a:fld>
            <a:endParaRPr lang="en-US"/>
          </a:p>
        </p:txBody>
      </p:sp>
      <p:sp>
        <p:nvSpPr>
          <p:cNvPr id="6" name="Footer Placeholder 5">
            <a:extLst>
              <a:ext uri="{FF2B5EF4-FFF2-40B4-BE49-F238E27FC236}">
                <a16:creationId xmlns:a16="http://schemas.microsoft.com/office/drawing/2014/main" id="{A695CA4D-6B7A-4B03-B695-0270FCFE15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B2948F-5A50-4148-94D1-529FD4EC9CFA}"/>
              </a:ext>
            </a:extLst>
          </p:cNvPr>
          <p:cNvSpPr>
            <a:spLocks noGrp="1"/>
          </p:cNvSpPr>
          <p:nvPr>
            <p:ph type="sldNum" sz="quarter" idx="12"/>
          </p:nvPr>
        </p:nvSpPr>
        <p:spPr/>
        <p:txBody>
          <a:bodyPr/>
          <a:lstStyle/>
          <a:p>
            <a:fld id="{3658713B-D490-4BF6-8781-3DB5B3D48171}" type="slidenum">
              <a:rPr lang="en-US" smtClean="0"/>
              <a:t>‹#›</a:t>
            </a:fld>
            <a:endParaRPr lang="en-US"/>
          </a:p>
        </p:txBody>
      </p:sp>
    </p:spTree>
    <p:extLst>
      <p:ext uri="{BB962C8B-B14F-4D97-AF65-F5344CB8AC3E}">
        <p14:creationId xmlns:p14="http://schemas.microsoft.com/office/powerpoint/2010/main" val="3973124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DC42-56C1-4FBC-A457-8BD26D0C74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009D92-C46F-4113-BEB3-5E4981534E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85BE15-2A8D-4094-BB19-64F93D8E0F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7BEBC4-F16C-4C9B-AD26-4E399874BDE8}"/>
              </a:ext>
            </a:extLst>
          </p:cNvPr>
          <p:cNvSpPr>
            <a:spLocks noGrp="1"/>
          </p:cNvSpPr>
          <p:nvPr>
            <p:ph type="dt" sz="half" idx="10"/>
          </p:nvPr>
        </p:nvSpPr>
        <p:spPr/>
        <p:txBody>
          <a:bodyPr/>
          <a:lstStyle/>
          <a:p>
            <a:fld id="{2E5E22E0-8613-436F-A782-EC4D13C14CE2}" type="datetimeFigureOut">
              <a:rPr lang="en-US" smtClean="0"/>
              <a:t>9/11/2026</a:t>
            </a:fld>
            <a:endParaRPr lang="en-US"/>
          </a:p>
        </p:txBody>
      </p:sp>
      <p:sp>
        <p:nvSpPr>
          <p:cNvPr id="6" name="Footer Placeholder 5">
            <a:extLst>
              <a:ext uri="{FF2B5EF4-FFF2-40B4-BE49-F238E27FC236}">
                <a16:creationId xmlns:a16="http://schemas.microsoft.com/office/drawing/2014/main" id="{D9E2D624-C14F-4DF9-9EB2-CB4C95E325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800709-1B9C-40F4-AF53-ABC9FB024B3D}"/>
              </a:ext>
            </a:extLst>
          </p:cNvPr>
          <p:cNvSpPr>
            <a:spLocks noGrp="1"/>
          </p:cNvSpPr>
          <p:nvPr>
            <p:ph type="sldNum" sz="quarter" idx="12"/>
          </p:nvPr>
        </p:nvSpPr>
        <p:spPr/>
        <p:txBody>
          <a:bodyPr/>
          <a:lstStyle/>
          <a:p>
            <a:fld id="{3658713B-D490-4BF6-8781-3DB5B3D48171}" type="slidenum">
              <a:rPr lang="en-US" smtClean="0"/>
              <a:t>‹#›</a:t>
            </a:fld>
            <a:endParaRPr lang="en-US"/>
          </a:p>
        </p:txBody>
      </p:sp>
    </p:spTree>
    <p:extLst>
      <p:ext uri="{BB962C8B-B14F-4D97-AF65-F5344CB8AC3E}">
        <p14:creationId xmlns:p14="http://schemas.microsoft.com/office/powerpoint/2010/main" val="2009262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6693D-420D-47F9-85E8-814E6E301B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0C5B9A-2814-4EDC-8137-800743AE01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B3FFDA-43DE-4BDC-95D4-6EB494F5FBA1}"/>
              </a:ext>
            </a:extLst>
          </p:cNvPr>
          <p:cNvSpPr>
            <a:spLocks noGrp="1"/>
          </p:cNvSpPr>
          <p:nvPr>
            <p:ph type="dt" sz="half" idx="10"/>
          </p:nvPr>
        </p:nvSpPr>
        <p:spPr/>
        <p:txBody>
          <a:bodyPr/>
          <a:lstStyle/>
          <a:p>
            <a:fld id="{2E5E22E0-8613-436F-A782-EC4D13C14CE2}" type="datetimeFigureOut">
              <a:rPr lang="en-US" smtClean="0"/>
              <a:t>9/11/2026</a:t>
            </a:fld>
            <a:endParaRPr lang="en-US"/>
          </a:p>
        </p:txBody>
      </p:sp>
      <p:sp>
        <p:nvSpPr>
          <p:cNvPr id="5" name="Footer Placeholder 4">
            <a:extLst>
              <a:ext uri="{FF2B5EF4-FFF2-40B4-BE49-F238E27FC236}">
                <a16:creationId xmlns:a16="http://schemas.microsoft.com/office/drawing/2014/main" id="{D5EC2E65-DEEA-4474-ACB2-08E5A5C3E6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CF3E40-944F-49A7-8222-D347A12D2B38}"/>
              </a:ext>
            </a:extLst>
          </p:cNvPr>
          <p:cNvSpPr>
            <a:spLocks noGrp="1"/>
          </p:cNvSpPr>
          <p:nvPr>
            <p:ph type="sldNum" sz="quarter" idx="12"/>
          </p:nvPr>
        </p:nvSpPr>
        <p:spPr/>
        <p:txBody>
          <a:bodyPr/>
          <a:lstStyle/>
          <a:p>
            <a:fld id="{3658713B-D490-4BF6-8781-3DB5B3D48171}" type="slidenum">
              <a:rPr lang="en-US" smtClean="0"/>
              <a:t>‹#›</a:t>
            </a:fld>
            <a:endParaRPr lang="en-US"/>
          </a:p>
        </p:txBody>
      </p:sp>
    </p:spTree>
    <p:extLst>
      <p:ext uri="{BB962C8B-B14F-4D97-AF65-F5344CB8AC3E}">
        <p14:creationId xmlns:p14="http://schemas.microsoft.com/office/powerpoint/2010/main" val="175040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5FB534-47BB-48B6-A17B-9AF39C906D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2EAEBF-884F-486F-A394-C26BAFD9DC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632653-2A71-42AF-9584-FDED983C0629}"/>
              </a:ext>
            </a:extLst>
          </p:cNvPr>
          <p:cNvSpPr>
            <a:spLocks noGrp="1"/>
          </p:cNvSpPr>
          <p:nvPr>
            <p:ph type="dt" sz="half" idx="10"/>
          </p:nvPr>
        </p:nvSpPr>
        <p:spPr/>
        <p:txBody>
          <a:bodyPr/>
          <a:lstStyle/>
          <a:p>
            <a:fld id="{2E5E22E0-8613-436F-A782-EC4D13C14CE2}" type="datetimeFigureOut">
              <a:rPr lang="en-US" smtClean="0"/>
              <a:t>9/11/2026</a:t>
            </a:fld>
            <a:endParaRPr lang="en-US"/>
          </a:p>
        </p:txBody>
      </p:sp>
      <p:sp>
        <p:nvSpPr>
          <p:cNvPr id="5" name="Footer Placeholder 4">
            <a:extLst>
              <a:ext uri="{FF2B5EF4-FFF2-40B4-BE49-F238E27FC236}">
                <a16:creationId xmlns:a16="http://schemas.microsoft.com/office/drawing/2014/main" id="{F1EF6181-F6B8-4170-B08F-666F105193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72CB12-3F24-443D-A6EE-A943DD45501F}"/>
              </a:ext>
            </a:extLst>
          </p:cNvPr>
          <p:cNvSpPr>
            <a:spLocks noGrp="1"/>
          </p:cNvSpPr>
          <p:nvPr>
            <p:ph type="sldNum" sz="quarter" idx="12"/>
          </p:nvPr>
        </p:nvSpPr>
        <p:spPr/>
        <p:txBody>
          <a:bodyPr/>
          <a:lstStyle/>
          <a:p>
            <a:fld id="{3658713B-D490-4BF6-8781-3DB5B3D48171}" type="slidenum">
              <a:rPr lang="en-US" smtClean="0"/>
              <a:t>‹#›</a:t>
            </a:fld>
            <a:endParaRPr lang="en-US"/>
          </a:p>
        </p:txBody>
      </p:sp>
    </p:spTree>
    <p:extLst>
      <p:ext uri="{BB962C8B-B14F-4D97-AF65-F5344CB8AC3E}">
        <p14:creationId xmlns:p14="http://schemas.microsoft.com/office/powerpoint/2010/main" val="392691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3D8C9D-9D75-40D8-A909-F408F478FF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E36EC6-EC47-41D9-A83B-EF18A9960B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76E129-0C66-478E-8712-1B4CCB888E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5E22E0-8613-436F-A782-EC4D13C14CE2}" type="datetimeFigureOut">
              <a:rPr lang="en-US" smtClean="0"/>
              <a:t>9/11/2026</a:t>
            </a:fld>
            <a:endParaRPr lang="en-US"/>
          </a:p>
        </p:txBody>
      </p:sp>
      <p:sp>
        <p:nvSpPr>
          <p:cNvPr id="5" name="Footer Placeholder 4">
            <a:extLst>
              <a:ext uri="{FF2B5EF4-FFF2-40B4-BE49-F238E27FC236}">
                <a16:creationId xmlns:a16="http://schemas.microsoft.com/office/drawing/2014/main" id="{216FC24D-28A8-44A7-B06A-D3AD07555E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257C644-E54E-4929-B858-1F376636E1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58713B-D490-4BF6-8781-3DB5B3D48171}" type="slidenum">
              <a:rPr lang="en-US" smtClean="0"/>
              <a:t>‹#›</a:t>
            </a:fld>
            <a:endParaRPr lang="en-US"/>
          </a:p>
        </p:txBody>
      </p:sp>
    </p:spTree>
    <p:extLst>
      <p:ext uri="{BB962C8B-B14F-4D97-AF65-F5344CB8AC3E}">
        <p14:creationId xmlns:p14="http://schemas.microsoft.com/office/powerpoint/2010/main" val="335682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5" Type="http://schemas.openxmlformats.org/officeDocument/2006/relationships/chart" Target="../charts/chart4.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rotaryteach.com/" TargetMode="External"/><Relationship Id="rId2" Type="http://schemas.openxmlformats.org/officeDocument/2006/relationships/hyperlink" Target="https://www.cry.org/" TargetMode="External"/><Relationship Id="rId1" Type="http://schemas.openxmlformats.org/officeDocument/2006/relationships/slideLayout" Target="../slideLayouts/slideLayout2.xml"/><Relationship Id="rId5" Type="http://schemas.openxmlformats.org/officeDocument/2006/relationships/hyperlink" Target="https://en.wikipedia.org/" TargetMode="External"/><Relationship Id="rId4" Type="http://schemas.openxmlformats.org/officeDocument/2006/relationships/hyperlink" Target="https://osaat.or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5A1FA-14BD-4F9F-8315-1AA387815B1B}"/>
              </a:ext>
            </a:extLst>
          </p:cNvPr>
          <p:cNvSpPr>
            <a:spLocks noGrp="1"/>
          </p:cNvSpPr>
          <p:nvPr>
            <p:ph type="ctrTitle"/>
          </p:nvPr>
        </p:nvSpPr>
        <p:spPr>
          <a:xfrm>
            <a:off x="1087395" y="864866"/>
            <a:ext cx="10206681" cy="545799"/>
          </a:xfrm>
        </p:spPr>
        <p:txBody>
          <a:bodyPr>
            <a:normAutofit fontScale="90000"/>
          </a:bodyPr>
          <a:lstStyle/>
          <a:p>
            <a:r>
              <a:rPr lang="en-US" sz="24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Post Covid Learning Assessment of 4000 children across 4 states (June – July 2022)</a:t>
            </a:r>
            <a:endParaRPr lang="en-US" sz="2000" b="1" dirty="0">
              <a:solidFill>
                <a:srgbClr val="C0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4FF855B-B807-4D3B-A21A-147B02CD25B1}"/>
              </a:ext>
            </a:extLst>
          </p:cNvPr>
          <p:cNvSpPr>
            <a:spLocks noGrp="1"/>
          </p:cNvSpPr>
          <p:nvPr>
            <p:ph type="subTitle" idx="1"/>
          </p:nvPr>
        </p:nvSpPr>
        <p:spPr>
          <a:xfrm>
            <a:off x="1524000" y="1987227"/>
            <a:ext cx="9144000" cy="4267500"/>
          </a:xfrm>
        </p:spPr>
        <p:txBody>
          <a:bodyPr>
            <a:normAutofit fontScale="85000" lnSpcReduction="20000"/>
          </a:bodyPr>
          <a:lstStyle/>
          <a:p>
            <a:r>
              <a:rPr lang="en-US" sz="1500" i="1" dirty="0">
                <a:latin typeface="Times New Roman" panose="02020603050405020304" pitchFamily="18" charset="0"/>
                <a:cs typeface="Times New Roman" panose="02020603050405020304" pitchFamily="18" charset="0"/>
              </a:rPr>
              <a:t>Presented by</a:t>
            </a:r>
          </a:p>
          <a:p>
            <a:r>
              <a:rPr lang="en-US" sz="2100" dirty="0">
                <a:latin typeface="Times New Roman" panose="02020603050405020304" pitchFamily="18" charset="0"/>
                <a:cs typeface="Times New Roman" panose="02020603050405020304" pitchFamily="18" charset="0"/>
              </a:rPr>
              <a:t>Rupsa Dawn</a:t>
            </a:r>
          </a:p>
          <a:p>
            <a:r>
              <a:rPr lang="en-US" sz="2100" dirty="0">
                <a:latin typeface="Times New Roman" panose="02020603050405020304" pitchFamily="18" charset="0"/>
                <a:cs typeface="Times New Roman" panose="02020603050405020304" pitchFamily="18" charset="0"/>
              </a:rPr>
              <a:t>(Roll No.: </a:t>
            </a:r>
            <a:r>
              <a:rPr lang="en-US" sz="2100" dirty="0">
                <a:latin typeface="Times New Roman" panose="02020603050405020304" pitchFamily="18" charset="0"/>
                <a:ea typeface="Times New Roman" panose="02020603050405020304" pitchFamily="18" charset="0"/>
                <a:cs typeface="Times New Roman" panose="02020603050405020304" pitchFamily="18" charset="0"/>
              </a:rPr>
              <a:t>UG/05/BSTDA/2021/004</a:t>
            </a:r>
            <a:r>
              <a:rPr lang="en-US" sz="2100" dirty="0">
                <a:latin typeface="Times New Roman" panose="02020603050405020304" pitchFamily="18" charset="0"/>
                <a:cs typeface="Times New Roman" panose="02020603050405020304" pitchFamily="18" charset="0"/>
              </a:rPr>
              <a:t>)</a:t>
            </a:r>
          </a:p>
          <a:p>
            <a:pPr>
              <a:lnSpc>
                <a:spcPct val="115000"/>
              </a:lnSpc>
              <a:spcBef>
                <a:spcPts val="0"/>
              </a:spcBef>
            </a:pPr>
            <a:endParaRPr lang="en-US" sz="2000" i="1"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15000"/>
              </a:lnSpc>
              <a:spcBef>
                <a:spcPts val="0"/>
              </a:spcBef>
            </a:pPr>
            <a:r>
              <a:rPr lang="en-US" sz="1700" i="1" dirty="0">
                <a:latin typeface="Times New Roman" panose="02020603050405020304" pitchFamily="18" charset="0"/>
                <a:ea typeface="Times New Roman" panose="02020603050405020304" pitchFamily="18" charset="0"/>
                <a:cs typeface="Times New Roman" panose="02020603050405020304" pitchFamily="18" charset="0"/>
              </a:rPr>
              <a:t>Under the supervision of</a:t>
            </a:r>
            <a:r>
              <a:rPr lang="en-US" sz="1700"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7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15000"/>
              </a:lnSpc>
              <a:spcBef>
                <a:spcPts val="0"/>
              </a:spcBef>
            </a:pPr>
            <a:r>
              <a:rPr lang="en-US" sz="28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Dr. </a:t>
            </a:r>
            <a:r>
              <a:rPr lang="en-US" sz="2800" b="1" dirty="0" err="1">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Diganta</a:t>
            </a:r>
            <a:r>
              <a:rPr lang="en-US" sz="28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Mukherjee</a:t>
            </a:r>
          </a:p>
          <a:p>
            <a:pPr>
              <a:lnSpc>
                <a:spcPct val="115000"/>
              </a:lnSpc>
              <a:spcBef>
                <a:spcPts val="0"/>
              </a:spcBef>
              <a:spcAft>
                <a:spcPts val="1000"/>
              </a:spcAft>
            </a:pPr>
            <a:endParaRPr lang="en-US" sz="3200" b="1"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Bef>
                <a:spcPts val="0"/>
              </a:spcBef>
              <a:spcAft>
                <a:spcPts val="1000"/>
              </a:spcAft>
            </a:pPr>
            <a:endParaRPr lang="en-US" sz="3200" b="1"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r>
              <a:rPr lang="en-US" sz="2100" b="1" dirty="0">
                <a:solidFill>
                  <a:schemeClr val="bg1">
                    <a:lumMod val="10000"/>
                  </a:schemeClr>
                </a:solidFill>
                <a:latin typeface="Times New Roman" panose="02020603050405020304" pitchFamily="18" charset="0"/>
                <a:ea typeface="Times New Roman" panose="02020603050405020304" pitchFamily="18" charset="0"/>
                <a:cs typeface="Times New Roman" panose="02020603050405020304" pitchFamily="18" charset="0"/>
              </a:rPr>
              <a:t>Department of Mathematics</a:t>
            </a:r>
            <a:endParaRPr lang="en-US" sz="2100" dirty="0">
              <a:solidFill>
                <a:schemeClr val="bg1">
                  <a:lumMod val="1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50000"/>
              </a:lnSpc>
            </a:pPr>
            <a:r>
              <a:rPr lang="en-US" sz="2100" b="1" dirty="0">
                <a:latin typeface="Times New Roman" panose="02020603050405020304" pitchFamily="18" charset="0"/>
                <a:ea typeface="Times New Roman" panose="02020603050405020304" pitchFamily="18" charset="0"/>
                <a:cs typeface="Times New Roman" panose="02020603050405020304" pitchFamily="18" charset="0"/>
              </a:rPr>
              <a:t>School of Basic and Applied Sciences</a:t>
            </a:r>
            <a:endParaRPr lang="en-US"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endParaRPr>
          </a:p>
          <a:p>
            <a:r>
              <a:rPr lang="en-US"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Adamas University</a:t>
            </a:r>
            <a:endParaRPr lang="en-US" dirty="0">
              <a:solidFill>
                <a:srgbClr val="C00000"/>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746963B-7139-4CE2-8D78-7B047826C3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339" y="3873842"/>
            <a:ext cx="857322" cy="765717"/>
          </a:xfrm>
          <a:prstGeom prst="rect">
            <a:avLst/>
          </a:prstGeom>
        </p:spPr>
      </p:pic>
      <p:sp>
        <p:nvSpPr>
          <p:cNvPr id="6" name="Flowchart: Manual Input 5">
            <a:extLst>
              <a:ext uri="{FF2B5EF4-FFF2-40B4-BE49-F238E27FC236}">
                <a16:creationId xmlns:a16="http://schemas.microsoft.com/office/drawing/2014/main" id="{2371C990-7169-42FF-90AA-7B2BBB2144E0}"/>
              </a:ext>
            </a:extLst>
          </p:cNvPr>
          <p:cNvSpPr/>
          <p:nvPr/>
        </p:nvSpPr>
        <p:spPr>
          <a:xfrm rot="16200000">
            <a:off x="10649202" y="-1023277"/>
            <a:ext cx="430885" cy="2654711"/>
          </a:xfrm>
          <a:prstGeom prst="flowChartManualInpu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69378B9-14B8-4F54-A0C8-EFDAE0F8D742}"/>
              </a:ext>
            </a:extLst>
          </p:cNvPr>
          <p:cNvSpPr txBox="1"/>
          <p:nvPr/>
        </p:nvSpPr>
        <p:spPr>
          <a:xfrm>
            <a:off x="9694606" y="88636"/>
            <a:ext cx="2497394" cy="461665"/>
          </a:xfrm>
          <a:prstGeom prst="rect">
            <a:avLst/>
          </a:prstGeom>
          <a:noFill/>
        </p:spPr>
        <p:txBody>
          <a:bodyPr wrap="square" rtlCol="0">
            <a:spAutoFit/>
          </a:bodyPr>
          <a:lstStyle/>
          <a:p>
            <a:pPr algn="r"/>
            <a:r>
              <a:rPr lang="en-US" sz="1200" dirty="0">
                <a:solidFill>
                  <a:srgbClr val="002060"/>
                </a:solidFill>
                <a:latin typeface="Times New Roman" panose="02020603050405020304" pitchFamily="18" charset="0"/>
                <a:cs typeface="Times New Roman" panose="02020603050405020304" pitchFamily="18" charset="0"/>
              </a:rPr>
              <a:t>Final Semester Project Presentation</a:t>
            </a:r>
          </a:p>
          <a:p>
            <a:pPr algn="r"/>
            <a:r>
              <a:rPr lang="en-US" sz="1200" dirty="0">
                <a:solidFill>
                  <a:srgbClr val="002060"/>
                </a:solidFill>
                <a:latin typeface="Times New Roman" panose="02020603050405020304" pitchFamily="18" charset="0"/>
                <a:cs typeface="Times New Roman" panose="02020603050405020304" pitchFamily="18" charset="0"/>
              </a:rPr>
              <a:t>August 31, 2023</a:t>
            </a:r>
            <a:endParaRPr lang="en-US" sz="1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5044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Pentagon 4">
            <a:extLst>
              <a:ext uri="{FF2B5EF4-FFF2-40B4-BE49-F238E27FC236}">
                <a16:creationId xmlns:a16="http://schemas.microsoft.com/office/drawing/2014/main" id="{0D6D4AA1-DEFD-473D-A0E7-6B2BA72F959A}"/>
              </a:ext>
            </a:extLst>
          </p:cNvPr>
          <p:cNvSpPr/>
          <p:nvPr/>
        </p:nvSpPr>
        <p:spPr>
          <a:xfrm>
            <a:off x="741405" y="2046792"/>
            <a:ext cx="1484870" cy="459934"/>
          </a:xfrm>
          <a:prstGeom prst="homePlat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Pentagon 5">
            <a:extLst>
              <a:ext uri="{FF2B5EF4-FFF2-40B4-BE49-F238E27FC236}">
                <a16:creationId xmlns:a16="http://schemas.microsoft.com/office/drawing/2014/main" id="{665EFCF7-A454-40FC-A975-8F471F55A5D3}"/>
              </a:ext>
            </a:extLst>
          </p:cNvPr>
          <p:cNvSpPr/>
          <p:nvPr/>
        </p:nvSpPr>
        <p:spPr>
          <a:xfrm>
            <a:off x="741405" y="4001294"/>
            <a:ext cx="1484870" cy="459934"/>
          </a:xfrm>
          <a:prstGeom prst="homePlat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B17AAF4-CE60-4E63-83DE-6AAD72975BC5}"/>
              </a:ext>
            </a:extLst>
          </p:cNvPr>
          <p:cNvSpPr>
            <a:spLocks noGrp="1"/>
          </p:cNvSpPr>
          <p:nvPr>
            <p:ph type="title"/>
          </p:nvPr>
        </p:nvSpPr>
        <p:spPr>
          <a:xfrm>
            <a:off x="838200" y="365125"/>
            <a:ext cx="10515600" cy="944691"/>
          </a:xfrm>
        </p:spPr>
        <p:txBody>
          <a:bodyPr>
            <a:normAutofit/>
          </a:bodyPr>
          <a:lstStyle/>
          <a:p>
            <a:pPr algn="ctr"/>
            <a:r>
              <a:rPr lang="en-US" sz="3600" dirty="0">
                <a:latin typeface="Times New Roman" panose="02020603050405020304" pitchFamily="18" charset="0"/>
                <a:cs typeface="Times New Roman" panose="02020603050405020304" pitchFamily="18" charset="0"/>
              </a:rPr>
              <a:t>Purpose and Scope</a:t>
            </a:r>
            <a:endParaRPr lang="en-IN" sz="3600" dirty="0"/>
          </a:p>
        </p:txBody>
      </p:sp>
      <p:sp>
        <p:nvSpPr>
          <p:cNvPr id="3" name="Content Placeholder 2">
            <a:extLst>
              <a:ext uri="{FF2B5EF4-FFF2-40B4-BE49-F238E27FC236}">
                <a16:creationId xmlns:a16="http://schemas.microsoft.com/office/drawing/2014/main" id="{45625A86-59FE-4AA5-84EF-085DC8303EC1}"/>
              </a:ext>
            </a:extLst>
          </p:cNvPr>
          <p:cNvSpPr>
            <a:spLocks noGrp="1"/>
          </p:cNvSpPr>
          <p:nvPr>
            <p:ph sz="half" idx="1"/>
          </p:nvPr>
        </p:nvSpPr>
        <p:spPr>
          <a:xfrm>
            <a:off x="838201" y="1702058"/>
            <a:ext cx="1484870" cy="4351338"/>
          </a:xfrm>
        </p:spPr>
        <p:txBody>
          <a:bodyPr>
            <a:normAutofit fontScale="92500"/>
          </a:bodyPr>
          <a:lstStyle/>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Purpose:</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Scope:</a:t>
            </a:r>
          </a:p>
        </p:txBody>
      </p:sp>
      <p:sp>
        <p:nvSpPr>
          <p:cNvPr id="4" name="Content Placeholder 3">
            <a:extLst>
              <a:ext uri="{FF2B5EF4-FFF2-40B4-BE49-F238E27FC236}">
                <a16:creationId xmlns:a16="http://schemas.microsoft.com/office/drawing/2014/main" id="{52364978-47CC-49A5-91E3-79EEA5ACD650}"/>
              </a:ext>
            </a:extLst>
          </p:cNvPr>
          <p:cNvSpPr>
            <a:spLocks noGrp="1"/>
          </p:cNvSpPr>
          <p:nvPr>
            <p:ph sz="half" idx="2"/>
          </p:nvPr>
        </p:nvSpPr>
        <p:spPr>
          <a:xfrm>
            <a:off x="2323071" y="1825625"/>
            <a:ext cx="9030729" cy="4351338"/>
          </a:xfrm>
        </p:spPr>
        <p:txBody>
          <a:bodyPr>
            <a:normAutofit fontScale="92500"/>
          </a:bodyPr>
          <a:lstStyle/>
          <a:p>
            <a:pPr marL="0" indent="0">
              <a:buNone/>
            </a:pPr>
            <a:r>
              <a:rPr lang="en-US" sz="2200" dirty="0">
                <a:latin typeface="Times New Roman" panose="02020603050405020304" pitchFamily="18" charset="0"/>
                <a:ea typeface="Calibri" panose="020F0502020204030204" pitchFamily="34" charset="0"/>
                <a:cs typeface="Times New Roman" panose="02020603050405020304" pitchFamily="18" charset="0"/>
              </a:rPr>
              <a:t>To assess the learning level of 4000 children in the post </a:t>
            </a:r>
            <a:r>
              <a:rPr lang="en-US" sz="2200" dirty="0" err="1">
                <a:latin typeface="Times New Roman" panose="02020603050405020304" pitchFamily="18" charset="0"/>
                <a:ea typeface="Calibri" panose="020F0502020204030204" pitchFamily="34" charset="0"/>
                <a:cs typeface="Times New Roman" panose="02020603050405020304" pitchFamily="18" charset="0"/>
              </a:rPr>
              <a:t>Covid</a:t>
            </a:r>
            <a:r>
              <a:rPr lang="en-US" sz="2200" dirty="0">
                <a:latin typeface="Times New Roman" panose="02020603050405020304" pitchFamily="18" charset="0"/>
                <a:ea typeface="Calibri" panose="020F0502020204030204" pitchFamily="34" charset="0"/>
                <a:cs typeface="Times New Roman" panose="02020603050405020304" pitchFamily="18" charset="0"/>
              </a:rPr>
              <a:t> situation in the age group of 7 to 14 years in four geographical locations namely, Jammu and Kashmir, Jharkhand, Manipur and West Bengal.</a:t>
            </a:r>
          </a:p>
          <a:p>
            <a:pPr marL="0" indent="0">
              <a:buNone/>
            </a:pPr>
            <a:endParaRPr lang="en-US" sz="22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22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200" dirty="0">
                <a:latin typeface="Times New Roman" panose="02020603050405020304" pitchFamily="18" charset="0"/>
                <a:ea typeface="Calibri" panose="020F0502020204030204" pitchFamily="34" charset="0"/>
                <a:cs typeface="Times New Roman" panose="02020603050405020304" pitchFamily="18" charset="0"/>
              </a:rPr>
              <a:t>CRY- Child Rights and You in collaboration with RILM(Rotary India Literacy Mission) has implemented a project for child development in selected areas of</a:t>
            </a:r>
            <a:r>
              <a:rPr lang="en-US" sz="22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200" dirty="0">
                <a:latin typeface="Times New Roman" panose="02020603050405020304" pitchFamily="18" charset="0"/>
                <a:ea typeface="Calibri" panose="020F0502020204030204" pitchFamily="34" charset="0"/>
                <a:cs typeface="Times New Roman" panose="02020603050405020304" pitchFamily="18" charset="0"/>
              </a:rPr>
              <a:t>CRY implementation operational area and to use the findings as baseline analysis.</a:t>
            </a:r>
          </a:p>
          <a:p>
            <a:pPr marL="0" marR="0" indent="0">
              <a:lnSpc>
                <a:spcPct val="107000"/>
              </a:lnSpc>
              <a:spcBef>
                <a:spcPts val="0"/>
              </a:spcBef>
              <a:spcAft>
                <a:spcPts val="800"/>
              </a:spcAft>
              <a:buNone/>
            </a:pPr>
            <a:r>
              <a:rPr lang="en-US" sz="2200" dirty="0">
                <a:latin typeface="Times New Roman" panose="02020603050405020304" pitchFamily="18" charset="0"/>
                <a:ea typeface="Calibri" panose="020F0502020204030204" pitchFamily="34" charset="0"/>
                <a:cs typeface="Times New Roman" panose="02020603050405020304" pitchFamily="18" charset="0"/>
              </a:rPr>
              <a:t>There were debates and discussions at various level about the learning gaps of children during </a:t>
            </a:r>
            <a:r>
              <a:rPr lang="en-US" sz="2200" dirty="0" err="1">
                <a:latin typeface="Times New Roman" panose="02020603050405020304" pitchFamily="18" charset="0"/>
                <a:ea typeface="Calibri" panose="020F0502020204030204" pitchFamily="34" charset="0"/>
                <a:cs typeface="Times New Roman" panose="02020603050405020304" pitchFamily="18" charset="0"/>
              </a:rPr>
              <a:t>Covid</a:t>
            </a:r>
            <a:r>
              <a:rPr lang="en-US" sz="2200" dirty="0">
                <a:latin typeface="Times New Roman" panose="02020603050405020304" pitchFamily="18" charset="0"/>
                <a:ea typeface="Calibri" panose="020F0502020204030204" pitchFamily="34" charset="0"/>
                <a:cs typeface="Times New Roman" panose="02020603050405020304" pitchFamily="18" charset="0"/>
              </a:rPr>
              <a:t> situation but there were no sufficient evidences to come in conclusion regarding its impact on the children. Findings will help in reframe the education intervention.</a:t>
            </a:r>
          </a:p>
          <a:p>
            <a:pPr marL="0" indent="0">
              <a:buNone/>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154473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434E2-52A4-4E86-A7FF-FBCA116755F2}"/>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0DE1E728-918F-43B8-8C56-87A3BC875801}"/>
              </a:ext>
            </a:extLst>
          </p:cNvPr>
          <p:cNvSpPr>
            <a:spLocks noGrp="1"/>
          </p:cNvSpPr>
          <p:nvPr>
            <p:ph idx="1"/>
          </p:nvPr>
        </p:nvSpPr>
        <p:spPr/>
        <p:txBody>
          <a:bodyPr/>
          <a:lstStyle/>
          <a:p>
            <a:pPr marL="0" indent="0">
              <a:buNone/>
            </a:pPr>
            <a:r>
              <a:rPr lang="en-US" sz="2400" dirty="0">
                <a:latin typeface="Times New Roman" panose="02020603050405020304" pitchFamily="18" charset="0"/>
                <a:cs typeface="Times New Roman" panose="02020603050405020304" pitchFamily="18" charset="0"/>
              </a:rPr>
              <a:t>Method to assess:</a:t>
            </a:r>
          </a:p>
          <a:p>
            <a:pPr marL="0" indent="0">
              <a:buNone/>
            </a:pPr>
            <a:endParaRPr lang="en-US" sz="24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Children were assessed basis three indicators- status of children ( drop out, never enrolled and laggard),  learning not as per the age appropriate class, reading and basic calculation competency.</a:t>
            </a:r>
          </a:p>
          <a:p>
            <a:pPr lvl="1"/>
            <a:r>
              <a:rPr lang="en-US" sz="2000" dirty="0">
                <a:latin typeface="Times New Roman" panose="02020603050405020304" pitchFamily="18" charset="0"/>
                <a:cs typeface="Times New Roman" panose="02020603050405020304" pitchFamily="18" charset="0"/>
              </a:rPr>
              <a:t>Each and every children has been provided with the books of age appropriate class to test the competency in reading and basic calculation.</a:t>
            </a:r>
          </a:p>
          <a:p>
            <a:pPr lvl="1"/>
            <a:r>
              <a:rPr lang="en-US" sz="2000" dirty="0">
                <a:latin typeface="Times New Roman" panose="02020603050405020304" pitchFamily="18" charset="0"/>
                <a:cs typeface="Times New Roman" panose="02020603050405020304" pitchFamily="18" charset="0"/>
              </a:rPr>
              <a:t>As per the ability of the children, teachers scored the children with the level of learning.</a:t>
            </a:r>
          </a:p>
          <a:p>
            <a:pPr lvl="1"/>
            <a:r>
              <a:rPr lang="en-US" sz="2000" dirty="0">
                <a:latin typeface="Times New Roman" panose="02020603050405020304" pitchFamily="18" charset="0"/>
                <a:cs typeface="Times New Roman" panose="02020603050405020304" pitchFamily="18" charset="0"/>
              </a:rPr>
              <a:t>Data compiled for all 4000 children with age appropriate class and learning level of children.</a:t>
            </a:r>
          </a:p>
          <a:p>
            <a:pPr lvl="1"/>
            <a:r>
              <a:rPr lang="en-US" sz="2000" dirty="0">
                <a:latin typeface="Times New Roman" panose="02020603050405020304" pitchFamily="18" charset="0"/>
                <a:cs typeface="Times New Roman" panose="02020603050405020304" pitchFamily="18" charset="0"/>
              </a:rPr>
              <a:t>The 50 field workers who were part of the assessment were trained by RILM </a:t>
            </a:r>
          </a:p>
          <a:p>
            <a:pPr marL="0" indent="0">
              <a:buNone/>
            </a:pPr>
            <a:endParaRPr lang="en-US" dirty="0"/>
          </a:p>
        </p:txBody>
      </p:sp>
    </p:spTree>
    <p:extLst>
      <p:ext uri="{BB962C8B-B14F-4D97-AF65-F5344CB8AC3E}">
        <p14:creationId xmlns:p14="http://schemas.microsoft.com/office/powerpoint/2010/main" val="1944480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CC17E-FF0D-4E02-A6BB-7FB18D31565B}"/>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Basic Information about the children’s profile</a:t>
            </a:r>
          </a:p>
        </p:txBody>
      </p:sp>
      <p:sp>
        <p:nvSpPr>
          <p:cNvPr id="3" name="Content Placeholder 2">
            <a:extLst>
              <a:ext uri="{FF2B5EF4-FFF2-40B4-BE49-F238E27FC236}">
                <a16:creationId xmlns:a16="http://schemas.microsoft.com/office/drawing/2014/main" id="{F42A4EC1-4048-4D1E-A745-7CF7871063F8}"/>
              </a:ext>
            </a:extLst>
          </p:cNvPr>
          <p:cNvSpPr>
            <a:spLocks noGrp="1"/>
          </p:cNvSpPr>
          <p:nvPr>
            <p:ph idx="1"/>
          </p:nvPr>
        </p:nvSpPr>
        <p:spPr/>
        <p:txBody>
          <a:bodyPr>
            <a:normAutofit/>
          </a:bodyPr>
          <a:lstStyle/>
          <a:p>
            <a:pPr marL="0" indent="0">
              <a:spcBef>
                <a:spcPts val="0"/>
              </a:spcBef>
              <a:buSzPts val="1400"/>
              <a:buNone/>
            </a:pPr>
            <a:r>
              <a:rPr lang="en-US" sz="2400" dirty="0">
                <a:latin typeface="Times New Roman" panose="02020603050405020304" pitchFamily="18" charset="0"/>
                <a:cs typeface="Times New Roman" panose="02020603050405020304" pitchFamily="18" charset="0"/>
              </a:rPr>
              <a:t>Age group covered:  7 to 14 years</a:t>
            </a:r>
          </a:p>
          <a:p>
            <a:pPr marL="596900" lvl="1">
              <a:spcBef>
                <a:spcPts val="0"/>
              </a:spcBef>
              <a:buSzPts val="1400"/>
            </a:pPr>
            <a:endParaRPr lang="en-US" sz="2000" dirty="0">
              <a:latin typeface="Times New Roman" panose="02020603050405020304" pitchFamily="18" charset="0"/>
              <a:cs typeface="Times New Roman" panose="02020603050405020304" pitchFamily="18" charset="0"/>
            </a:endParaRPr>
          </a:p>
          <a:p>
            <a:pPr marL="711200" lvl="1" indent="-342900">
              <a:spcBef>
                <a:spcPts val="0"/>
              </a:spcBef>
              <a:buSzPts val="14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Total children screened- 4000</a:t>
            </a:r>
          </a:p>
          <a:p>
            <a:pPr marL="711200" lvl="1" indent="-342900">
              <a:buSzPts val="14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Total Males- 1884 (47.1%)</a:t>
            </a:r>
          </a:p>
          <a:p>
            <a:pPr marL="711200" lvl="1" indent="-342900">
              <a:buSzPts val="14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Total Females- 2116 ( 52.9%)</a:t>
            </a:r>
          </a:p>
          <a:p>
            <a:pPr marL="711200" lvl="1" indent="-342900">
              <a:buSzPts val="14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Villages covered- 40</a:t>
            </a:r>
          </a:p>
          <a:p>
            <a:pPr marL="711200" lvl="1" indent="-342900">
              <a:buSzPts val="14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Panchayat covered- 23</a:t>
            </a:r>
          </a:p>
          <a:p>
            <a:pPr marL="711200" lvl="1" indent="-342900">
              <a:buSzPts val="14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Block covered-7</a:t>
            </a:r>
          </a:p>
          <a:p>
            <a:pPr marL="711200" lvl="1" indent="-342900">
              <a:buSzPts val="14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District covered-4</a:t>
            </a:r>
          </a:p>
          <a:p>
            <a:pPr marL="711200" lvl="1" indent="-342900">
              <a:buSzPts val="14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State Covered-4</a:t>
            </a:r>
          </a:p>
        </p:txBody>
      </p:sp>
    </p:spTree>
    <p:extLst>
      <p:ext uri="{BB962C8B-B14F-4D97-AF65-F5344CB8AC3E}">
        <p14:creationId xmlns:p14="http://schemas.microsoft.com/office/powerpoint/2010/main" val="417087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7F7D7-59BA-4044-8C20-77B8E8E69EC7}"/>
              </a:ext>
            </a:extLst>
          </p:cNvPr>
          <p:cNvSpPr>
            <a:spLocks noGrp="1"/>
          </p:cNvSpPr>
          <p:nvPr>
            <p:ph type="title"/>
          </p:nvPr>
        </p:nvSpPr>
        <p:spPr/>
        <p:txBody>
          <a:bodyPr>
            <a:normAutofit/>
          </a:bodyPr>
          <a:lstStyle/>
          <a:p>
            <a:pPr algn="ctr"/>
            <a:r>
              <a:rPr kumimoji="0" lang="en-US" sz="3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Calibri"/>
              </a:rPr>
              <a:t>Name of the Location</a:t>
            </a:r>
            <a:endParaRPr lang="en-US" sz="3600"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91902FEE-6A85-4ABD-8F77-271E3387A06A}"/>
              </a:ext>
            </a:extLst>
          </p:cNvPr>
          <p:cNvGraphicFramePr>
            <a:graphicFrameLocks noGrp="1"/>
          </p:cNvGraphicFramePr>
          <p:nvPr>
            <p:ph idx="1"/>
            <p:extLst>
              <p:ext uri="{D42A27DB-BD31-4B8C-83A1-F6EECF244321}">
                <p14:modId xmlns:p14="http://schemas.microsoft.com/office/powerpoint/2010/main" val="2807472518"/>
              </p:ext>
            </p:extLst>
          </p:nvPr>
        </p:nvGraphicFramePr>
        <p:xfrm>
          <a:off x="1499286" y="2187144"/>
          <a:ext cx="9193428" cy="2743502"/>
        </p:xfrm>
        <a:graphic>
          <a:graphicData uri="http://schemas.openxmlformats.org/drawingml/2006/table">
            <a:tbl>
              <a:tblPr firstRow="1" firstCol="1" bandRow="1">
                <a:tableStyleId>{F5AB1C69-6EDB-4FF4-983F-18BD219EF322}</a:tableStyleId>
              </a:tblPr>
              <a:tblGrid>
                <a:gridCol w="2298357">
                  <a:extLst>
                    <a:ext uri="{9D8B030D-6E8A-4147-A177-3AD203B41FA5}">
                      <a16:colId xmlns:a16="http://schemas.microsoft.com/office/drawing/2014/main" val="1587470786"/>
                    </a:ext>
                  </a:extLst>
                </a:gridCol>
                <a:gridCol w="2298357">
                  <a:extLst>
                    <a:ext uri="{9D8B030D-6E8A-4147-A177-3AD203B41FA5}">
                      <a16:colId xmlns:a16="http://schemas.microsoft.com/office/drawing/2014/main" val="3790861977"/>
                    </a:ext>
                  </a:extLst>
                </a:gridCol>
                <a:gridCol w="2298357">
                  <a:extLst>
                    <a:ext uri="{9D8B030D-6E8A-4147-A177-3AD203B41FA5}">
                      <a16:colId xmlns:a16="http://schemas.microsoft.com/office/drawing/2014/main" val="3429915318"/>
                    </a:ext>
                  </a:extLst>
                </a:gridCol>
                <a:gridCol w="2298357">
                  <a:extLst>
                    <a:ext uri="{9D8B030D-6E8A-4147-A177-3AD203B41FA5}">
                      <a16:colId xmlns:a16="http://schemas.microsoft.com/office/drawing/2014/main" val="2911660254"/>
                    </a:ext>
                  </a:extLst>
                </a:gridCol>
              </a:tblGrid>
              <a:tr h="408506">
                <a:tc>
                  <a:txBody>
                    <a:bodyPr/>
                    <a:lstStyle/>
                    <a:p>
                      <a:pPr marL="0" marR="0">
                        <a:lnSpc>
                          <a:spcPct val="107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States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District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Blocks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No. of panchayats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extLst>
                  <a:ext uri="{0D108BD9-81ED-4DB2-BD59-A6C34878D82A}">
                    <a16:rowId xmlns:a16="http://schemas.microsoft.com/office/drawing/2014/main" val="2850154845"/>
                  </a:ext>
                </a:extLst>
              </a:tr>
              <a:tr h="542232">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Jammu and Kashmir</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Bandipora</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Bandipora, Hajin, Sumbal</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09</a:t>
                      </a:r>
                    </a:p>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1604432"/>
                  </a:ext>
                </a:extLst>
              </a:tr>
              <a:tr h="408506">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Jharkhand</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Koderma</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Satgawan</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02</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46355782"/>
                  </a:ext>
                </a:extLst>
              </a:tr>
              <a:tr h="542232">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Manipur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Imphal West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Haorang Sabal, Patsoi</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08</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04073716"/>
                  </a:ext>
                </a:extLst>
              </a:tr>
              <a:tr h="408506">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West Bengal</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Jalpaiguri</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Banarhat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04</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20040749"/>
                  </a:ext>
                </a:extLst>
              </a:tr>
              <a:tr h="408506">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Total</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4</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7</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23</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0155940"/>
                  </a:ext>
                </a:extLst>
              </a:tr>
            </a:tbl>
          </a:graphicData>
        </a:graphic>
      </p:graphicFrame>
    </p:spTree>
    <p:extLst>
      <p:ext uri="{BB962C8B-B14F-4D97-AF65-F5344CB8AC3E}">
        <p14:creationId xmlns:p14="http://schemas.microsoft.com/office/powerpoint/2010/main" val="2690196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35A00-FBB0-4812-B81F-9B5C67061C07}"/>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Child Coverage</a:t>
            </a:r>
          </a:p>
        </p:txBody>
      </p:sp>
      <p:graphicFrame>
        <p:nvGraphicFramePr>
          <p:cNvPr id="5" name="Content Placeholder 4">
            <a:extLst>
              <a:ext uri="{FF2B5EF4-FFF2-40B4-BE49-F238E27FC236}">
                <a16:creationId xmlns:a16="http://schemas.microsoft.com/office/drawing/2014/main" id="{0695D94C-D144-4F4C-BE41-B09653C17ACA}"/>
              </a:ext>
            </a:extLst>
          </p:cNvPr>
          <p:cNvGraphicFramePr>
            <a:graphicFrameLocks noGrp="1"/>
          </p:cNvGraphicFramePr>
          <p:nvPr>
            <p:ph idx="1"/>
            <p:extLst>
              <p:ext uri="{D42A27DB-BD31-4B8C-83A1-F6EECF244321}">
                <p14:modId xmlns:p14="http://schemas.microsoft.com/office/powerpoint/2010/main" val="89704761"/>
              </p:ext>
            </p:extLst>
          </p:nvPr>
        </p:nvGraphicFramePr>
        <p:xfrm>
          <a:off x="1567248" y="2174788"/>
          <a:ext cx="9057503" cy="2755560"/>
        </p:xfrm>
        <a:graphic>
          <a:graphicData uri="http://schemas.openxmlformats.org/drawingml/2006/table">
            <a:tbl>
              <a:tblPr firstRow="1" firstCol="1" bandRow="1">
                <a:tableStyleId>{F5AB1C69-6EDB-4FF4-983F-18BD219EF322}</a:tableStyleId>
              </a:tblPr>
              <a:tblGrid>
                <a:gridCol w="2278183">
                  <a:extLst>
                    <a:ext uri="{9D8B030D-6E8A-4147-A177-3AD203B41FA5}">
                      <a16:colId xmlns:a16="http://schemas.microsoft.com/office/drawing/2014/main" val="262270616"/>
                    </a:ext>
                  </a:extLst>
                </a:gridCol>
                <a:gridCol w="2250568">
                  <a:extLst>
                    <a:ext uri="{9D8B030D-6E8A-4147-A177-3AD203B41FA5}">
                      <a16:colId xmlns:a16="http://schemas.microsoft.com/office/drawing/2014/main" val="3686190817"/>
                    </a:ext>
                  </a:extLst>
                </a:gridCol>
                <a:gridCol w="2264376">
                  <a:extLst>
                    <a:ext uri="{9D8B030D-6E8A-4147-A177-3AD203B41FA5}">
                      <a16:colId xmlns:a16="http://schemas.microsoft.com/office/drawing/2014/main" val="2995822745"/>
                    </a:ext>
                  </a:extLst>
                </a:gridCol>
                <a:gridCol w="2264376">
                  <a:extLst>
                    <a:ext uri="{9D8B030D-6E8A-4147-A177-3AD203B41FA5}">
                      <a16:colId xmlns:a16="http://schemas.microsoft.com/office/drawing/2014/main" val="2297845591"/>
                    </a:ext>
                  </a:extLst>
                </a:gridCol>
              </a:tblGrid>
              <a:tr h="459260">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States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District</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No. of </a:t>
                      </a:r>
                      <a:r>
                        <a:rPr lang="en-US" sz="1800" b="1" dirty="0" err="1">
                          <a:effectLst/>
                          <a:latin typeface="Times New Roman" panose="02020603050405020304" pitchFamily="18" charset="0"/>
                          <a:cs typeface="Times New Roman" panose="02020603050405020304" pitchFamily="18" charset="0"/>
                        </a:rPr>
                        <a:t>centres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No. of children</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extLst>
                  <a:ext uri="{0D108BD9-81ED-4DB2-BD59-A6C34878D82A}">
                    <a16:rowId xmlns:a16="http://schemas.microsoft.com/office/drawing/2014/main" val="2733625830"/>
                  </a:ext>
                </a:extLst>
              </a:tr>
              <a:tr h="459260">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Jammu and Kashmir</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dirty="0" err="1">
                          <a:effectLst/>
                          <a:latin typeface="Times New Roman" panose="02020603050405020304" pitchFamily="18" charset="0"/>
                          <a:cs typeface="Times New Roman" panose="02020603050405020304" pitchFamily="18" charset="0"/>
                        </a:rPr>
                        <a:t>Bandipora</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09</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565</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51230451"/>
                  </a:ext>
                </a:extLst>
              </a:tr>
              <a:tr h="459260">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Jharkhand</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dirty="0" err="1">
                          <a:effectLst/>
                          <a:latin typeface="Times New Roman" panose="02020603050405020304" pitchFamily="18" charset="0"/>
                          <a:cs typeface="Times New Roman" panose="02020603050405020304" pitchFamily="18" charset="0"/>
                        </a:rPr>
                        <a:t>Koderma</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06</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700</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49276523"/>
                  </a:ext>
                </a:extLst>
              </a:tr>
              <a:tr h="459260">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Manipur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Imphal West</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09</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1000</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77605249"/>
                  </a:ext>
                </a:extLst>
              </a:tr>
              <a:tr h="459260">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West Bengal</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Jalpaiguri</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15</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1735</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06546"/>
                  </a:ext>
                </a:extLst>
              </a:tr>
              <a:tr h="459260">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Total</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6">
                        <a:lumMod val="75000"/>
                      </a:schemeClr>
                    </a:solidFill>
                  </a:tcPr>
                </a:tc>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4</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39</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4000</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1520415"/>
                  </a:ext>
                </a:extLst>
              </a:tr>
            </a:tbl>
          </a:graphicData>
        </a:graphic>
      </p:graphicFrame>
    </p:spTree>
    <p:extLst>
      <p:ext uri="{BB962C8B-B14F-4D97-AF65-F5344CB8AC3E}">
        <p14:creationId xmlns:p14="http://schemas.microsoft.com/office/powerpoint/2010/main" val="3624624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1120CE82-F390-4E9B-A39D-5B6BE5438F4A}"/>
              </a:ext>
            </a:extLst>
          </p:cNvPr>
          <p:cNvGraphicFramePr>
            <a:graphicFrameLocks/>
          </p:cNvGraphicFramePr>
          <p:nvPr>
            <p:extLst>
              <p:ext uri="{D42A27DB-BD31-4B8C-83A1-F6EECF244321}">
                <p14:modId xmlns:p14="http://schemas.microsoft.com/office/powerpoint/2010/main" val="2725501411"/>
              </p:ext>
            </p:extLst>
          </p:nvPr>
        </p:nvGraphicFramePr>
        <p:xfrm>
          <a:off x="757002" y="378502"/>
          <a:ext cx="4959247"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096232CF-D674-43DD-B634-906A86D8DB65}"/>
              </a:ext>
            </a:extLst>
          </p:cNvPr>
          <p:cNvGraphicFramePr>
            <a:graphicFrameLocks/>
          </p:cNvGraphicFramePr>
          <p:nvPr>
            <p:extLst>
              <p:ext uri="{D42A27DB-BD31-4B8C-83A1-F6EECF244321}">
                <p14:modId xmlns:p14="http://schemas.microsoft.com/office/powerpoint/2010/main" val="3224216340"/>
              </p:ext>
            </p:extLst>
          </p:nvPr>
        </p:nvGraphicFramePr>
        <p:xfrm>
          <a:off x="6475751" y="378502"/>
          <a:ext cx="4736892"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6D2E2751-2C33-42CD-B84C-59417103BA49}"/>
              </a:ext>
            </a:extLst>
          </p:cNvPr>
          <p:cNvGraphicFramePr>
            <a:graphicFrameLocks/>
          </p:cNvGraphicFramePr>
          <p:nvPr>
            <p:extLst>
              <p:ext uri="{D42A27DB-BD31-4B8C-83A1-F6EECF244321}">
                <p14:modId xmlns:p14="http://schemas.microsoft.com/office/powerpoint/2010/main" val="3291495353"/>
              </p:ext>
            </p:extLst>
          </p:nvPr>
        </p:nvGraphicFramePr>
        <p:xfrm>
          <a:off x="719526" y="3429000"/>
          <a:ext cx="4959246" cy="292682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3E1E8866-6348-4D70-AC13-339F3D6C5C4E}"/>
              </a:ext>
            </a:extLst>
          </p:cNvPr>
          <p:cNvGraphicFramePr>
            <a:graphicFrameLocks/>
          </p:cNvGraphicFramePr>
          <p:nvPr>
            <p:extLst>
              <p:ext uri="{D42A27DB-BD31-4B8C-83A1-F6EECF244321}">
                <p14:modId xmlns:p14="http://schemas.microsoft.com/office/powerpoint/2010/main" val="1597341283"/>
              </p:ext>
            </p:extLst>
          </p:nvPr>
        </p:nvGraphicFramePr>
        <p:xfrm>
          <a:off x="6475751" y="3428999"/>
          <a:ext cx="4736892" cy="292682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797694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BB661-F7C9-4F6D-9FC6-FC0AE3154D59}"/>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Child Coverage Caste vs. State</a:t>
            </a:r>
          </a:p>
        </p:txBody>
      </p:sp>
      <p:graphicFrame>
        <p:nvGraphicFramePr>
          <p:cNvPr id="5" name="Chart 4">
            <a:extLst>
              <a:ext uri="{FF2B5EF4-FFF2-40B4-BE49-F238E27FC236}">
                <a16:creationId xmlns:a16="http://schemas.microsoft.com/office/drawing/2014/main" id="{CCE764B1-B30D-4C10-90C4-B06D9EBF7FAF}"/>
              </a:ext>
            </a:extLst>
          </p:cNvPr>
          <p:cNvGraphicFramePr>
            <a:graphicFrameLocks/>
          </p:cNvGraphicFramePr>
          <p:nvPr>
            <p:extLst>
              <p:ext uri="{D42A27DB-BD31-4B8C-83A1-F6EECF244321}">
                <p14:modId xmlns:p14="http://schemas.microsoft.com/office/powerpoint/2010/main" val="3100864915"/>
              </p:ext>
            </p:extLst>
          </p:nvPr>
        </p:nvGraphicFramePr>
        <p:xfrm>
          <a:off x="1244184" y="1690688"/>
          <a:ext cx="9728615" cy="430537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3363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730E4-DE69-4785-AE11-E88FC9F85BFF}"/>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Drop out status</a:t>
            </a:r>
          </a:p>
        </p:txBody>
      </p:sp>
      <p:graphicFrame>
        <p:nvGraphicFramePr>
          <p:cNvPr id="4" name="Content Placeholder 3">
            <a:extLst>
              <a:ext uri="{FF2B5EF4-FFF2-40B4-BE49-F238E27FC236}">
                <a16:creationId xmlns:a16="http://schemas.microsoft.com/office/drawing/2014/main" id="{D07F5E14-2400-42D3-A3F6-C7C8C4B0999B}"/>
              </a:ext>
            </a:extLst>
          </p:cNvPr>
          <p:cNvGraphicFramePr>
            <a:graphicFrameLocks noGrp="1"/>
          </p:cNvGraphicFramePr>
          <p:nvPr>
            <p:ph idx="1"/>
            <p:extLst>
              <p:ext uri="{D42A27DB-BD31-4B8C-83A1-F6EECF244321}">
                <p14:modId xmlns:p14="http://schemas.microsoft.com/office/powerpoint/2010/main" val="2195601529"/>
              </p:ext>
            </p:extLst>
          </p:nvPr>
        </p:nvGraphicFramePr>
        <p:xfrm>
          <a:off x="838200" y="2050207"/>
          <a:ext cx="4243466" cy="286656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75B563E2-8207-4669-AA2A-E5A6343811D0}"/>
              </a:ext>
            </a:extLst>
          </p:cNvPr>
          <p:cNvGraphicFramePr>
            <a:graphicFrameLocks/>
          </p:cNvGraphicFramePr>
          <p:nvPr>
            <p:extLst>
              <p:ext uri="{D42A27DB-BD31-4B8C-83A1-F6EECF244321}">
                <p14:modId xmlns:p14="http://schemas.microsoft.com/office/powerpoint/2010/main" val="2103370351"/>
              </p:ext>
            </p:extLst>
          </p:nvPr>
        </p:nvGraphicFramePr>
        <p:xfrm>
          <a:off x="5496393" y="2050207"/>
          <a:ext cx="4243466" cy="2866567"/>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37ADEB86-6A58-4BE1-99AA-8962E3396BF7}"/>
              </a:ext>
            </a:extLst>
          </p:cNvPr>
          <p:cNvSpPr txBox="1"/>
          <p:nvPr/>
        </p:nvSpPr>
        <p:spPr>
          <a:xfrm>
            <a:off x="9878518" y="2050207"/>
            <a:ext cx="2128603" cy="2308324"/>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Here, X-axis shows the birth year of the children. Those born in 2015 are 7 years old and those born in 2008 are 14 years old during the time of observation.</a:t>
            </a:r>
          </a:p>
        </p:txBody>
      </p:sp>
      <p:sp>
        <p:nvSpPr>
          <p:cNvPr id="8" name="TextBox 7">
            <a:extLst>
              <a:ext uri="{FF2B5EF4-FFF2-40B4-BE49-F238E27FC236}">
                <a16:creationId xmlns:a16="http://schemas.microsoft.com/office/drawing/2014/main" id="{E178AE8E-A526-480E-9AA3-73A13325ED79}"/>
              </a:ext>
            </a:extLst>
          </p:cNvPr>
          <p:cNvSpPr txBox="1"/>
          <p:nvPr/>
        </p:nvSpPr>
        <p:spPr>
          <a:xfrm>
            <a:off x="838200" y="5343416"/>
            <a:ext cx="9310141" cy="923330"/>
          </a:xfrm>
          <a:prstGeom prst="rect">
            <a:avLst/>
          </a:prstGeom>
          <a:solidFill>
            <a:schemeClr val="accent6">
              <a:lumMod val="40000"/>
              <a:lumOff val="60000"/>
            </a:schemeClr>
          </a:solidFill>
        </p:spPr>
        <p:txBody>
          <a:bodyPr wrap="square" rtlCol="0">
            <a:spAutoFit/>
          </a:bodyPr>
          <a:lstStyle/>
          <a:p>
            <a:r>
              <a:rPr lang="en-US" dirty="0">
                <a:latin typeface="Times New Roman" panose="02020603050405020304" pitchFamily="18" charset="0"/>
                <a:cs typeface="Times New Roman" panose="02020603050405020304" pitchFamily="18" charset="0"/>
              </a:rPr>
              <a:t>Drop out children- children who drop out from school for last 1 year</a:t>
            </a:r>
          </a:p>
          <a:p>
            <a:r>
              <a:rPr lang="en-US" dirty="0">
                <a:latin typeface="Times New Roman" panose="02020603050405020304" pitchFamily="18" charset="0"/>
                <a:cs typeface="Times New Roman" panose="02020603050405020304" pitchFamily="18" charset="0"/>
              </a:rPr>
              <a:t>Never enrolled children- children never enrolled in school since beginning</a:t>
            </a:r>
          </a:p>
          <a:p>
            <a:r>
              <a:rPr lang="en-US" dirty="0">
                <a:latin typeface="Times New Roman" panose="02020603050405020304" pitchFamily="18" charset="0"/>
                <a:cs typeface="Times New Roman" panose="02020603050405020304" pitchFamily="18" charset="0"/>
              </a:rPr>
              <a:t>Laggard children- children who are behind in learning level compared to their age appropriate class</a:t>
            </a:r>
          </a:p>
        </p:txBody>
      </p:sp>
    </p:spTree>
    <p:extLst>
      <p:ext uri="{BB962C8B-B14F-4D97-AF65-F5344CB8AC3E}">
        <p14:creationId xmlns:p14="http://schemas.microsoft.com/office/powerpoint/2010/main" val="1285271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B35F1-9224-4043-8D76-43155E3EA9F1}"/>
              </a:ext>
            </a:extLst>
          </p:cNvPr>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Educational Status of Respective States</a:t>
            </a:r>
          </a:p>
        </p:txBody>
      </p:sp>
      <p:graphicFrame>
        <p:nvGraphicFramePr>
          <p:cNvPr id="5" name="Content Placeholder 4">
            <a:extLst>
              <a:ext uri="{FF2B5EF4-FFF2-40B4-BE49-F238E27FC236}">
                <a16:creationId xmlns:a16="http://schemas.microsoft.com/office/drawing/2014/main" id="{18BDB4EF-5DF5-4D56-93ED-E97D05E6B7F9}"/>
              </a:ext>
            </a:extLst>
          </p:cNvPr>
          <p:cNvGraphicFramePr>
            <a:graphicFrameLocks noGrp="1"/>
          </p:cNvGraphicFramePr>
          <p:nvPr>
            <p:ph idx="1"/>
            <p:extLst>
              <p:ext uri="{D42A27DB-BD31-4B8C-83A1-F6EECF244321}">
                <p14:modId xmlns:p14="http://schemas.microsoft.com/office/powerpoint/2010/main" val="1877503056"/>
              </p:ext>
            </p:extLst>
          </p:nvPr>
        </p:nvGraphicFramePr>
        <p:xfrm>
          <a:off x="838200" y="2580689"/>
          <a:ext cx="10515600" cy="2432699"/>
        </p:xfrm>
        <a:graphic>
          <a:graphicData uri="http://schemas.openxmlformats.org/drawingml/2006/table">
            <a:tbl>
              <a:tblPr firstRow="1" firstCol="1" bandRow="1">
                <a:tableStyleId>{284E427A-3D55-4303-BF80-6455036E1DE7}</a:tableStyleId>
              </a:tblPr>
              <a:tblGrid>
                <a:gridCol w="3056185">
                  <a:extLst>
                    <a:ext uri="{9D8B030D-6E8A-4147-A177-3AD203B41FA5}">
                      <a16:colId xmlns:a16="http://schemas.microsoft.com/office/drawing/2014/main" val="2517419036"/>
                    </a:ext>
                  </a:extLst>
                </a:gridCol>
                <a:gridCol w="1705433">
                  <a:extLst>
                    <a:ext uri="{9D8B030D-6E8A-4147-A177-3AD203B41FA5}">
                      <a16:colId xmlns:a16="http://schemas.microsoft.com/office/drawing/2014/main" val="3541257411"/>
                    </a:ext>
                  </a:extLst>
                </a:gridCol>
                <a:gridCol w="1838901">
                  <a:extLst>
                    <a:ext uri="{9D8B030D-6E8A-4147-A177-3AD203B41FA5}">
                      <a16:colId xmlns:a16="http://schemas.microsoft.com/office/drawing/2014/main" val="1412853495"/>
                    </a:ext>
                  </a:extLst>
                </a:gridCol>
                <a:gridCol w="1735092">
                  <a:extLst>
                    <a:ext uri="{9D8B030D-6E8A-4147-A177-3AD203B41FA5}">
                      <a16:colId xmlns:a16="http://schemas.microsoft.com/office/drawing/2014/main" val="3954194920"/>
                    </a:ext>
                  </a:extLst>
                </a:gridCol>
                <a:gridCol w="2179989">
                  <a:extLst>
                    <a:ext uri="{9D8B030D-6E8A-4147-A177-3AD203B41FA5}">
                      <a16:colId xmlns:a16="http://schemas.microsoft.com/office/drawing/2014/main" val="1306340329"/>
                    </a:ext>
                  </a:extLst>
                </a:gridCol>
              </a:tblGrid>
              <a:tr h="492295">
                <a:tc>
                  <a:txBody>
                    <a:bodyPr/>
                    <a:lstStyle/>
                    <a:p>
                      <a:pPr marL="0" marR="0">
                        <a:lnSpc>
                          <a:spcPct val="107000"/>
                        </a:lnSpc>
                        <a:spcBef>
                          <a:spcPts val="0"/>
                        </a:spcBef>
                        <a:spcAft>
                          <a:spcPts val="0"/>
                        </a:spcAft>
                      </a:pPr>
                      <a:r>
                        <a:rPr lang="en-IN" sz="2000" b="1" dirty="0">
                          <a:effectLst/>
                          <a:latin typeface="Times New Roman" panose="02020603050405020304" pitchFamily="18" charset="0"/>
                          <a:cs typeface="Times New Roman" panose="02020603050405020304" pitchFamily="18" charset="0"/>
                        </a:rPr>
                        <a:t>Row Labels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FF8837"/>
                    </a:solidFill>
                  </a:tcPr>
                </a:tc>
                <a:tc>
                  <a:txBody>
                    <a:bodyPr/>
                    <a:lstStyle/>
                    <a:p>
                      <a:pPr marL="0" marR="0">
                        <a:lnSpc>
                          <a:spcPct val="107000"/>
                        </a:lnSpc>
                        <a:spcBef>
                          <a:spcPts val="0"/>
                        </a:spcBef>
                        <a:spcAft>
                          <a:spcPts val="0"/>
                        </a:spcAft>
                      </a:pPr>
                      <a:r>
                        <a:rPr lang="en-IN" sz="2000" b="1" dirty="0">
                          <a:effectLst/>
                          <a:latin typeface="Times New Roman" panose="02020603050405020304" pitchFamily="18" charset="0"/>
                          <a:cs typeface="Times New Roman" panose="02020603050405020304" pitchFamily="18" charset="0"/>
                        </a:rPr>
                        <a:t>Dropout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2000" b="1" dirty="0">
                          <a:effectLst/>
                          <a:latin typeface="Times New Roman" panose="02020603050405020304" pitchFamily="18" charset="0"/>
                          <a:cs typeface="Times New Roman" panose="02020603050405020304" pitchFamily="18" charset="0"/>
                        </a:rPr>
                        <a:t>Laggered</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2000" b="1" dirty="0">
                          <a:effectLst/>
                          <a:latin typeface="Times New Roman" panose="02020603050405020304" pitchFamily="18" charset="0"/>
                          <a:cs typeface="Times New Roman" panose="02020603050405020304" pitchFamily="18" charset="0"/>
                        </a:rPr>
                        <a:t>Never enrolled</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2000" b="1" dirty="0">
                          <a:effectLst/>
                          <a:latin typeface="Times New Roman" panose="02020603050405020304" pitchFamily="18" charset="0"/>
                          <a:cs typeface="Times New Roman" panose="02020603050405020304" pitchFamily="18" charset="0"/>
                        </a:rPr>
                        <a:t>Grand Total</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86042550"/>
                  </a:ext>
                </a:extLst>
              </a:tr>
              <a:tr h="359764">
                <a:tc>
                  <a:txBody>
                    <a:bodyPr/>
                    <a:lstStyle/>
                    <a:p>
                      <a:pPr marL="0" marR="0">
                        <a:lnSpc>
                          <a:spcPct val="107000"/>
                        </a:lnSpc>
                        <a:spcBef>
                          <a:spcPts val="0"/>
                        </a:spcBef>
                        <a:spcAft>
                          <a:spcPts val="0"/>
                        </a:spcAft>
                      </a:pPr>
                      <a:r>
                        <a:rPr lang="en-IN" sz="2000" dirty="0">
                          <a:effectLst/>
                          <a:latin typeface="Times New Roman" panose="02020603050405020304" pitchFamily="18" charset="0"/>
                          <a:cs typeface="Times New Roman" panose="02020603050405020304" pitchFamily="18" charset="0"/>
                        </a:rPr>
                        <a:t>JAMMU AND KASHMIR</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FF8837"/>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95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366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104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dirty="0">
                          <a:effectLst/>
                          <a:latin typeface="Times New Roman" panose="02020603050405020304" pitchFamily="18" charset="0"/>
                          <a:cs typeface="Times New Roman" panose="02020603050405020304" pitchFamily="18" charset="0"/>
                        </a:rPr>
                        <a:t>565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extLst>
                  <a:ext uri="{0D108BD9-81ED-4DB2-BD59-A6C34878D82A}">
                    <a16:rowId xmlns:a16="http://schemas.microsoft.com/office/drawing/2014/main" val="3404203251"/>
                  </a:ext>
                </a:extLst>
              </a:tr>
              <a:tr h="395160">
                <a:tc>
                  <a:txBody>
                    <a:bodyPr/>
                    <a:lstStyle/>
                    <a:p>
                      <a:pPr marL="0" marR="0">
                        <a:lnSpc>
                          <a:spcPct val="107000"/>
                        </a:lnSpc>
                        <a:spcBef>
                          <a:spcPts val="0"/>
                        </a:spcBef>
                        <a:spcAft>
                          <a:spcPts val="0"/>
                        </a:spcAft>
                      </a:pPr>
                      <a:r>
                        <a:rPr lang="en-IN" sz="2000" dirty="0">
                          <a:effectLst/>
                          <a:latin typeface="Times New Roman" panose="02020603050405020304" pitchFamily="18" charset="0"/>
                          <a:cs typeface="Times New Roman" panose="02020603050405020304" pitchFamily="18" charset="0"/>
                        </a:rPr>
                        <a:t>JHARKHAND</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FF8837"/>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15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684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1</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dirty="0">
                          <a:effectLst/>
                          <a:latin typeface="Times New Roman" panose="02020603050405020304" pitchFamily="18" charset="0"/>
                          <a:cs typeface="Times New Roman" panose="02020603050405020304" pitchFamily="18" charset="0"/>
                        </a:rPr>
                        <a:t>700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extLst>
                  <a:ext uri="{0D108BD9-81ED-4DB2-BD59-A6C34878D82A}">
                    <a16:rowId xmlns:a16="http://schemas.microsoft.com/office/drawing/2014/main" val="581991303"/>
                  </a:ext>
                </a:extLst>
              </a:tr>
              <a:tr h="395160">
                <a:tc>
                  <a:txBody>
                    <a:bodyPr/>
                    <a:lstStyle/>
                    <a:p>
                      <a:pPr marL="0" marR="0">
                        <a:lnSpc>
                          <a:spcPct val="107000"/>
                        </a:lnSpc>
                        <a:spcBef>
                          <a:spcPts val="0"/>
                        </a:spcBef>
                        <a:spcAft>
                          <a:spcPts val="0"/>
                        </a:spcAft>
                      </a:pPr>
                      <a:r>
                        <a:rPr lang="en-IN" sz="2000" dirty="0">
                          <a:effectLst/>
                          <a:latin typeface="Times New Roman" panose="02020603050405020304" pitchFamily="18" charset="0"/>
                          <a:cs typeface="Times New Roman" panose="02020603050405020304" pitchFamily="18" charset="0"/>
                        </a:rPr>
                        <a:t>MANIPUR</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FF8837"/>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36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963</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1</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dirty="0">
                          <a:effectLst/>
                          <a:latin typeface="Times New Roman" panose="02020603050405020304" pitchFamily="18" charset="0"/>
                          <a:cs typeface="Times New Roman" panose="02020603050405020304" pitchFamily="18" charset="0"/>
                        </a:rPr>
                        <a:t>1000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extLst>
                  <a:ext uri="{0D108BD9-81ED-4DB2-BD59-A6C34878D82A}">
                    <a16:rowId xmlns:a16="http://schemas.microsoft.com/office/drawing/2014/main" val="73466897"/>
                  </a:ext>
                </a:extLst>
              </a:tr>
              <a:tr h="395160">
                <a:tc>
                  <a:txBody>
                    <a:bodyPr/>
                    <a:lstStyle/>
                    <a:p>
                      <a:pPr marL="0" marR="0">
                        <a:lnSpc>
                          <a:spcPct val="107000"/>
                        </a:lnSpc>
                        <a:spcBef>
                          <a:spcPts val="0"/>
                        </a:spcBef>
                        <a:spcAft>
                          <a:spcPts val="0"/>
                        </a:spcAft>
                      </a:pPr>
                      <a:r>
                        <a:rPr lang="en-IN" sz="2000" dirty="0">
                          <a:effectLst/>
                          <a:latin typeface="Times New Roman" panose="02020603050405020304" pitchFamily="18" charset="0"/>
                          <a:cs typeface="Times New Roman" panose="02020603050405020304" pitchFamily="18" charset="0"/>
                        </a:rPr>
                        <a:t>WEST BENGAL</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FF8837"/>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10</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1719</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dirty="0">
                          <a:effectLst/>
                          <a:latin typeface="Times New Roman" panose="02020603050405020304" pitchFamily="18" charset="0"/>
                          <a:cs typeface="Times New Roman" panose="02020603050405020304" pitchFamily="18" charset="0"/>
                        </a:rPr>
                        <a:t>1735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extLst>
                  <a:ext uri="{0D108BD9-81ED-4DB2-BD59-A6C34878D82A}">
                    <a16:rowId xmlns:a16="http://schemas.microsoft.com/office/drawing/2014/main" val="2609608552"/>
                  </a:ext>
                </a:extLst>
              </a:tr>
              <a:tr h="395160">
                <a:tc>
                  <a:txBody>
                    <a:bodyPr/>
                    <a:lstStyle/>
                    <a:p>
                      <a:pPr marL="0" marR="0">
                        <a:lnSpc>
                          <a:spcPct val="107000"/>
                        </a:lnSpc>
                        <a:spcBef>
                          <a:spcPts val="0"/>
                        </a:spcBef>
                        <a:spcAft>
                          <a:spcPts val="0"/>
                        </a:spcAft>
                      </a:pPr>
                      <a:r>
                        <a:rPr lang="en-IN" sz="2000" b="1" dirty="0">
                          <a:effectLst/>
                          <a:latin typeface="Times New Roman" panose="02020603050405020304" pitchFamily="18" charset="0"/>
                          <a:cs typeface="Times New Roman" panose="02020603050405020304" pitchFamily="18" charset="0"/>
                        </a:rPr>
                        <a:t>Grand Total</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FF8837"/>
                    </a:solidFill>
                  </a:tcPr>
                </a:tc>
                <a:tc>
                  <a:txBody>
                    <a:bodyPr/>
                    <a:lstStyle/>
                    <a:p>
                      <a:pPr marL="0" marR="0">
                        <a:lnSpc>
                          <a:spcPct val="107000"/>
                        </a:lnSpc>
                        <a:spcBef>
                          <a:spcPts val="0"/>
                        </a:spcBef>
                        <a:spcAft>
                          <a:spcPts val="0"/>
                        </a:spcAft>
                      </a:pPr>
                      <a:r>
                        <a:rPr lang="en-IN" sz="2000" b="1" dirty="0">
                          <a:effectLst/>
                          <a:latin typeface="Times New Roman" panose="02020603050405020304" pitchFamily="18" charset="0"/>
                          <a:cs typeface="Times New Roman" panose="02020603050405020304" pitchFamily="18" charset="0"/>
                        </a:rPr>
                        <a:t>156</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b="1" dirty="0">
                          <a:effectLst/>
                          <a:latin typeface="Times New Roman" panose="02020603050405020304" pitchFamily="18" charset="0"/>
                          <a:cs typeface="Times New Roman" panose="02020603050405020304" pitchFamily="18" charset="0"/>
                        </a:rPr>
                        <a:t>3732</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b="1" dirty="0">
                          <a:effectLst/>
                          <a:latin typeface="Times New Roman" panose="02020603050405020304" pitchFamily="18" charset="0"/>
                          <a:cs typeface="Times New Roman" panose="02020603050405020304" pitchFamily="18" charset="0"/>
                        </a:rPr>
                        <a:t>112</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tc>
                  <a:txBody>
                    <a:bodyPr/>
                    <a:lstStyle/>
                    <a:p>
                      <a:pPr marL="0" marR="0">
                        <a:lnSpc>
                          <a:spcPct val="107000"/>
                        </a:lnSpc>
                        <a:spcBef>
                          <a:spcPts val="0"/>
                        </a:spcBef>
                        <a:spcAft>
                          <a:spcPts val="0"/>
                        </a:spcAft>
                      </a:pPr>
                      <a:r>
                        <a:rPr lang="en-IN" sz="2000" b="1" dirty="0">
                          <a:effectLst/>
                          <a:latin typeface="Times New Roman" panose="02020603050405020304" pitchFamily="18" charset="0"/>
                          <a:cs typeface="Times New Roman" panose="02020603050405020304" pitchFamily="18" charset="0"/>
                        </a:rPr>
                        <a:t>4000</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40000"/>
                        <a:lumOff val="60000"/>
                      </a:schemeClr>
                    </a:solidFill>
                  </a:tcPr>
                </a:tc>
                <a:extLst>
                  <a:ext uri="{0D108BD9-81ED-4DB2-BD59-A6C34878D82A}">
                    <a16:rowId xmlns:a16="http://schemas.microsoft.com/office/drawing/2014/main" val="2786388380"/>
                  </a:ext>
                </a:extLst>
              </a:tr>
            </a:tbl>
          </a:graphicData>
        </a:graphic>
      </p:graphicFrame>
    </p:spTree>
    <p:extLst>
      <p:ext uri="{BB962C8B-B14F-4D97-AF65-F5344CB8AC3E}">
        <p14:creationId xmlns:p14="http://schemas.microsoft.com/office/powerpoint/2010/main" val="572044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DC54B28E-3D39-45E7-9501-78CFC103C3B2}"/>
              </a:ext>
            </a:extLst>
          </p:cNvPr>
          <p:cNvGraphicFramePr>
            <a:graphicFrameLocks/>
          </p:cNvGraphicFramePr>
          <p:nvPr>
            <p:extLst>
              <p:ext uri="{D42A27DB-BD31-4B8C-83A1-F6EECF244321}">
                <p14:modId xmlns:p14="http://schemas.microsoft.com/office/powerpoint/2010/main" val="2172301821"/>
              </p:ext>
            </p:extLst>
          </p:nvPr>
        </p:nvGraphicFramePr>
        <p:xfrm>
          <a:off x="913152" y="981430"/>
          <a:ext cx="5012961" cy="377045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AA7B122F-0E71-4913-93A5-795CB9C003A9}"/>
              </a:ext>
            </a:extLst>
          </p:cNvPr>
          <p:cNvGraphicFramePr>
            <a:graphicFrameLocks/>
          </p:cNvGraphicFramePr>
          <p:nvPr>
            <p:extLst>
              <p:ext uri="{D42A27DB-BD31-4B8C-83A1-F6EECF244321}">
                <p14:modId xmlns:p14="http://schemas.microsoft.com/office/powerpoint/2010/main" val="3747913033"/>
              </p:ext>
            </p:extLst>
          </p:nvPr>
        </p:nvGraphicFramePr>
        <p:xfrm>
          <a:off x="6265887" y="981430"/>
          <a:ext cx="5012961" cy="377045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C8DCE13C-DBCA-4746-B5D4-96D9FD934021}"/>
              </a:ext>
            </a:extLst>
          </p:cNvPr>
          <p:cNvSpPr txBox="1"/>
          <p:nvPr/>
        </p:nvSpPr>
        <p:spPr>
          <a:xfrm>
            <a:off x="913152" y="5200650"/>
            <a:ext cx="10365696"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Jammu and Kashmir has registered with the highest number of drop out children and never enrolled children followed by Jharkhand and Manipur in drop out category. West Bengal shows the maximum number of lagged children. % of lagged is higher than the other two categories in all states but minimum in Jammu and Kashmir. Due to closure of the schools, most of the children discontinued their education and they did not receive much family support as maximum of them are from first generation learner family.</a:t>
            </a:r>
          </a:p>
        </p:txBody>
      </p:sp>
    </p:spTree>
    <p:extLst>
      <p:ext uri="{BB962C8B-B14F-4D97-AF65-F5344CB8AC3E}">
        <p14:creationId xmlns:p14="http://schemas.microsoft.com/office/powerpoint/2010/main" val="3257033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A22B3-F2AA-4587-83BF-983FD7CF46DD}"/>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Dropout Percentage against Gender and Age</a:t>
            </a:r>
          </a:p>
        </p:txBody>
      </p:sp>
      <p:graphicFrame>
        <p:nvGraphicFramePr>
          <p:cNvPr id="4" name="Content Placeholder 3">
            <a:extLst>
              <a:ext uri="{FF2B5EF4-FFF2-40B4-BE49-F238E27FC236}">
                <a16:creationId xmlns:a16="http://schemas.microsoft.com/office/drawing/2014/main" id="{13B0BD8D-954C-4F70-B592-624D737D5871}"/>
              </a:ext>
            </a:extLst>
          </p:cNvPr>
          <p:cNvGraphicFramePr>
            <a:graphicFrameLocks noGrp="1"/>
          </p:cNvGraphicFramePr>
          <p:nvPr>
            <p:ph idx="1"/>
            <p:extLst>
              <p:ext uri="{D42A27DB-BD31-4B8C-83A1-F6EECF244321}">
                <p14:modId xmlns:p14="http://schemas.microsoft.com/office/powerpoint/2010/main" val="2246558709"/>
              </p:ext>
            </p:extLst>
          </p:nvPr>
        </p:nvGraphicFramePr>
        <p:xfrm>
          <a:off x="838201" y="1825625"/>
          <a:ext cx="6667499" cy="4562476"/>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85D45A94-0C4B-453F-B3CC-F96D1CC7ADD6}"/>
              </a:ext>
            </a:extLst>
          </p:cNvPr>
          <p:cNvSpPr txBox="1"/>
          <p:nvPr/>
        </p:nvSpPr>
        <p:spPr>
          <a:xfrm>
            <a:off x="7645400" y="1822450"/>
            <a:ext cx="3708399" cy="4801314"/>
          </a:xfrm>
          <a:prstGeom prst="rect">
            <a:avLst/>
          </a:prstGeom>
          <a:solidFill>
            <a:schemeClr val="bg1"/>
          </a:solid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This Graphical representation shows the percentage of dropout children of each age gender wise. On observing the graph, we notice that maximum children dropped out of education at 13 years of age, where male child registered with 23.03% and females with 41.03%. This is the transition age from primary school to high school. In most cases, the high schools being far from the hamlets and schools being physically closed due to Covid situation served as a difficulty to access information and admission process. As a result most drop out cases are observed in this age.</a:t>
            </a:r>
          </a:p>
        </p:txBody>
      </p:sp>
    </p:spTree>
    <p:extLst>
      <p:ext uri="{BB962C8B-B14F-4D97-AF65-F5344CB8AC3E}">
        <p14:creationId xmlns:p14="http://schemas.microsoft.com/office/powerpoint/2010/main" val="3050143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9CE766D-9150-40CE-B3B7-F586542652B6}"/>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Average Compatibility level vs. Age Appropriate Class</a:t>
            </a:r>
          </a:p>
        </p:txBody>
      </p:sp>
      <p:graphicFrame>
        <p:nvGraphicFramePr>
          <p:cNvPr id="9" name="Content Placeholder 8">
            <a:extLst>
              <a:ext uri="{FF2B5EF4-FFF2-40B4-BE49-F238E27FC236}">
                <a16:creationId xmlns:a16="http://schemas.microsoft.com/office/drawing/2014/main" id="{E60DFEE4-A3A2-46F5-BC43-8FE8908F5F8B}"/>
              </a:ext>
            </a:extLst>
          </p:cNvPr>
          <p:cNvGraphicFramePr>
            <a:graphicFrameLocks noGrp="1"/>
          </p:cNvGraphicFramePr>
          <p:nvPr>
            <p:ph idx="1"/>
            <p:extLst>
              <p:ext uri="{D42A27DB-BD31-4B8C-83A1-F6EECF244321}">
                <p14:modId xmlns:p14="http://schemas.microsoft.com/office/powerpoint/2010/main" val="3063865206"/>
              </p:ext>
            </p:extLst>
          </p:nvPr>
        </p:nvGraphicFramePr>
        <p:xfrm>
          <a:off x="838200" y="1825624"/>
          <a:ext cx="6798276" cy="4545195"/>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C8463E73-D47B-4CC1-8F32-8A75ACA99142}"/>
              </a:ext>
            </a:extLst>
          </p:cNvPr>
          <p:cNvSpPr txBox="1"/>
          <p:nvPr/>
        </p:nvSpPr>
        <p:spPr>
          <a:xfrm>
            <a:off x="8019535" y="1825624"/>
            <a:ext cx="3880022" cy="4247317"/>
          </a:xfrm>
          <a:prstGeom prst="rect">
            <a:avLst/>
          </a:prstGeom>
          <a:solidFill>
            <a:schemeClr val="bg1"/>
          </a:solid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graphical representation shows that the children of higher classes have dropped with maximum learning loss. For class 8, the average reading compatibility of male and female child is 3.28 and 3.13 respectively, whereas for basic calculation, it is slightly lower than the reading compatibility level. Even they have barely reached standard 3. Similarly for the children of 5</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standard, they are at par with the 2nd standard learning level. This shows that there are huge learning gaps among the rural children. Gender wise it is almost the same, the loss registered </a:t>
            </a:r>
          </a:p>
        </p:txBody>
      </p:sp>
    </p:spTree>
    <p:extLst>
      <p:ext uri="{BB962C8B-B14F-4D97-AF65-F5344CB8AC3E}">
        <p14:creationId xmlns:p14="http://schemas.microsoft.com/office/powerpoint/2010/main" val="1071778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93DCF-265C-440E-9813-806BA62DCD17}"/>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Learning Level</a:t>
            </a:r>
          </a:p>
        </p:txBody>
      </p:sp>
      <p:graphicFrame>
        <p:nvGraphicFramePr>
          <p:cNvPr id="4" name="Content Placeholder 3">
            <a:extLst>
              <a:ext uri="{FF2B5EF4-FFF2-40B4-BE49-F238E27FC236}">
                <a16:creationId xmlns:a16="http://schemas.microsoft.com/office/drawing/2014/main" id="{C539BF10-D7DC-4BB0-9A88-4D90C51BCCED}"/>
              </a:ext>
            </a:extLst>
          </p:cNvPr>
          <p:cNvGraphicFramePr>
            <a:graphicFrameLocks noGrp="1"/>
          </p:cNvGraphicFramePr>
          <p:nvPr>
            <p:ph idx="1"/>
            <p:extLst>
              <p:ext uri="{D42A27DB-BD31-4B8C-83A1-F6EECF244321}">
                <p14:modId xmlns:p14="http://schemas.microsoft.com/office/powerpoint/2010/main" val="331876654"/>
              </p:ext>
            </p:extLst>
          </p:nvPr>
        </p:nvGraphicFramePr>
        <p:xfrm>
          <a:off x="838200" y="1690689"/>
          <a:ext cx="5636741" cy="341632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0B43C880-192C-4057-9FAD-1FE66A7DADAA}"/>
              </a:ext>
            </a:extLst>
          </p:cNvPr>
          <p:cNvSpPr txBox="1"/>
          <p:nvPr/>
        </p:nvSpPr>
        <p:spPr>
          <a:xfrm>
            <a:off x="7070938" y="1690688"/>
            <a:ext cx="4572000" cy="3416320"/>
          </a:xfrm>
          <a:prstGeom prst="rect">
            <a:avLst/>
          </a:prstGeom>
          <a:noFill/>
        </p:spPr>
        <p:txBody>
          <a:bodyPr wrap="square" rtlCol="0">
            <a:spAutoFit/>
          </a:bodyPr>
          <a:lstStyle/>
          <a:p>
            <a:pPr algn="just"/>
            <a:r>
              <a:rPr lang="en-US" dirty="0"/>
              <a:t>This graphical diagram shows that over 75% of the children lie under the poor category which means that they are having a gap of more than 2 years of learning compatibility with respect to their age appropriate classes. The children of higher classes are more lagging behind of the age appropriate class. Those children are in higher need of familial support as learning input to be able to keep up to their appropriate knowledge level. Children at lower classes have the probability of catching up to their classes if properly trained and supported</a:t>
            </a:r>
          </a:p>
        </p:txBody>
      </p:sp>
      <p:sp>
        <p:nvSpPr>
          <p:cNvPr id="7" name="TextBox 6">
            <a:extLst>
              <a:ext uri="{FF2B5EF4-FFF2-40B4-BE49-F238E27FC236}">
                <a16:creationId xmlns:a16="http://schemas.microsoft.com/office/drawing/2014/main" id="{FED7E784-405B-46A7-BE87-60D90E1350FC}"/>
              </a:ext>
            </a:extLst>
          </p:cNvPr>
          <p:cNvSpPr txBox="1"/>
          <p:nvPr/>
        </p:nvSpPr>
        <p:spPr>
          <a:xfrm>
            <a:off x="838200" y="5256935"/>
            <a:ext cx="9170773" cy="1477328"/>
          </a:xfrm>
          <a:prstGeom prst="rect">
            <a:avLst/>
          </a:prstGeom>
          <a:solidFill>
            <a:srgbClr val="D1FFD1"/>
          </a:solidFill>
        </p:spPr>
        <p:txBody>
          <a:bodyPr wrap="square" rtlCol="0">
            <a:spAutoFit/>
          </a:bodyPr>
          <a:lstStyle/>
          <a:p>
            <a:r>
              <a:rPr lang="en-US" dirty="0"/>
              <a:t>Excellent : Level with age appropriate class</a:t>
            </a:r>
          </a:p>
          <a:p>
            <a:r>
              <a:rPr lang="en-US" dirty="0"/>
              <a:t>Good : Level with one year behind with age appropriate class</a:t>
            </a:r>
          </a:p>
          <a:p>
            <a:r>
              <a:rPr lang="en-US" dirty="0"/>
              <a:t>Moderate :  Level with two years behind with age appropriate class</a:t>
            </a:r>
          </a:p>
          <a:p>
            <a:r>
              <a:rPr lang="en-US" dirty="0"/>
              <a:t>Poor :  Level with more than two years behind with age appropriate class</a:t>
            </a:r>
          </a:p>
          <a:p>
            <a:endParaRPr lang="en-US" dirty="0"/>
          </a:p>
        </p:txBody>
      </p:sp>
    </p:spTree>
    <p:extLst>
      <p:ext uri="{BB962C8B-B14F-4D97-AF65-F5344CB8AC3E}">
        <p14:creationId xmlns:p14="http://schemas.microsoft.com/office/powerpoint/2010/main" val="4243288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3F378-750F-4A11-81DC-BF2C555858B8}"/>
              </a:ext>
            </a:extLst>
          </p:cNvPr>
          <p:cNvSpPr>
            <a:spLocks noGrp="1"/>
          </p:cNvSpPr>
          <p:nvPr>
            <p:ph type="title"/>
          </p:nvPr>
        </p:nvSpPr>
        <p:spPr>
          <a:xfrm>
            <a:off x="838200" y="365126"/>
            <a:ext cx="10515600" cy="1148882"/>
          </a:xfrm>
        </p:spPr>
        <p:txBody>
          <a:bodyPr>
            <a:normAutofit/>
          </a:bodyPr>
          <a:lstStyle/>
          <a:p>
            <a:pPr algn="ctr"/>
            <a:r>
              <a:rPr lang="en-IN" sz="36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12EC1E6-405D-4E52-8856-86743F4E4E7C}"/>
              </a:ext>
            </a:extLst>
          </p:cNvPr>
          <p:cNvSpPr>
            <a:spLocks noGrp="1"/>
          </p:cNvSpPr>
          <p:nvPr>
            <p:ph idx="1"/>
          </p:nvPr>
        </p:nvSpPr>
        <p:spPr>
          <a:xfrm>
            <a:off x="838200" y="1660733"/>
            <a:ext cx="10515600" cy="4351338"/>
          </a:xfrm>
        </p:spPr>
        <p:txBody>
          <a:bodyPr>
            <a:normAutofit lnSpcReduction="10000"/>
          </a:bodyPr>
          <a:lstStyle/>
          <a:p>
            <a:r>
              <a:rPr lang="en-US" sz="1800" dirty="0">
                <a:latin typeface="Times New Roman" panose="02020603050405020304" pitchFamily="18" charset="0"/>
                <a:cs typeface="Times New Roman" panose="02020603050405020304" pitchFamily="18" charset="0"/>
              </a:rPr>
              <a:t>India’s literacy rate is 77.70%. Our country houses the highest number of adult nonliterate in the world. Through our analysis, we can observe that more than 50% of these children lack the basic knowledge that they should have. </a:t>
            </a:r>
          </a:p>
          <a:p>
            <a:r>
              <a:rPr lang="en-US" sz="1800" dirty="0">
                <a:latin typeface="Times New Roman" panose="02020603050405020304" pitchFamily="18" charset="0"/>
                <a:cs typeface="Times New Roman" panose="02020603050405020304" pitchFamily="18" charset="0"/>
              </a:rPr>
              <a:t>The analysis of children dropping out of school and students lacking age-appropriate knowledge underscores the multifaceted challenges that education systems face. </a:t>
            </a:r>
          </a:p>
          <a:p>
            <a:r>
              <a:rPr lang="en-US" sz="1800" dirty="0">
                <a:latin typeface="Times New Roman" panose="02020603050405020304" pitchFamily="18" charset="0"/>
                <a:cs typeface="Times New Roman" panose="02020603050405020304" pitchFamily="18" charset="0"/>
              </a:rPr>
              <a:t>The reasons for dropout are diverse. The </a:t>
            </a:r>
            <a:r>
              <a:rPr lang="en-US" sz="1800" dirty="0" err="1">
                <a:latin typeface="Times New Roman" panose="02020603050405020304" pitchFamily="18" charset="0"/>
                <a:cs typeface="Times New Roman" panose="02020603050405020304" pitchFamily="18" charset="0"/>
              </a:rPr>
              <a:t>covid</a:t>
            </a:r>
            <a:r>
              <a:rPr lang="en-US" sz="1800" dirty="0">
                <a:latin typeface="Times New Roman" panose="02020603050405020304" pitchFamily="18" charset="0"/>
                <a:cs typeface="Times New Roman" panose="02020603050405020304" pitchFamily="18" charset="0"/>
              </a:rPr>
              <a:t> has made human homeless, jobless and vulnerable leading to children being deprived of education. Henceforth, they were forced to take up chores or jobs to feed their family instead of studying. </a:t>
            </a:r>
          </a:p>
          <a:p>
            <a:r>
              <a:rPr lang="en-US" sz="1800" dirty="0">
                <a:latin typeface="Times New Roman" panose="02020603050405020304" pitchFamily="18" charset="0"/>
                <a:cs typeface="Times New Roman" panose="02020603050405020304" pitchFamily="18" charset="0"/>
              </a:rPr>
              <a:t>Socio-economical reason stand a great point in lagging of education. Still today, beliefs like girl child should not be educated or that studying till class 5 or 8 is enough , exists. Such beliefs must be eradicated.</a:t>
            </a:r>
          </a:p>
          <a:p>
            <a:r>
              <a:rPr lang="en-US" sz="1800" dirty="0">
                <a:latin typeface="Times New Roman" panose="02020603050405020304" pitchFamily="18" charset="0"/>
                <a:cs typeface="Times New Roman" panose="02020603050405020304" pitchFamily="18" charset="0"/>
              </a:rPr>
              <a:t>Addressing the challenges of children dropping out of school and students lacking age-appropriate knowledge requires a comprehensive approach. Initiatives should encompass community engagement, economic support, awareness campaigns, and infrastructure development.</a:t>
            </a:r>
          </a:p>
          <a:p>
            <a:r>
              <a:rPr lang="en-US" sz="1800" dirty="0">
                <a:latin typeface="Times New Roman" panose="02020603050405020304" pitchFamily="18" charset="0"/>
                <a:cs typeface="Times New Roman" panose="02020603050405020304" pitchFamily="18" charset="0"/>
              </a:rPr>
              <a:t>The overarching goal is to create an inclusive education system, ensuring universal access, quality, and equity. Success relies on collaboration between government bodies, educational institutions, communities, and stakeholders to build a foundation for a more equitable and accessible educational landscape.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0310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FC7F-3D50-4D06-915B-4122D4251203}"/>
              </a:ext>
            </a:extLst>
          </p:cNvPr>
          <p:cNvSpPr>
            <a:spLocks noGrp="1"/>
          </p:cNvSpPr>
          <p:nvPr>
            <p:ph type="title"/>
          </p:nvPr>
        </p:nvSpPr>
        <p:spPr/>
        <p:txBody>
          <a:bodyPr>
            <a:normAutofit/>
          </a:bodyPr>
          <a:lstStyle/>
          <a:p>
            <a:pPr algn="ctr"/>
            <a:r>
              <a:rPr lang="en-IN" sz="36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DE9D7F61-EC30-40F2-9957-22F5EB0306FD}"/>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CRY India (Child Rights and You): </a:t>
            </a:r>
            <a:r>
              <a:rPr lang="en-US" sz="2000" dirty="0">
                <a:latin typeface="Times New Roman" panose="02020603050405020304" pitchFamily="18" charset="0"/>
                <a:cs typeface="Times New Roman" panose="02020603050405020304" pitchFamily="18" charset="0"/>
                <a:hlinkClick r:id="rId2"/>
              </a:rPr>
              <a:t>https://www.cry.org</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RILM (Rotary India Literacy Mission): </a:t>
            </a:r>
            <a:r>
              <a:rPr lang="en-US" sz="2000" dirty="0">
                <a:latin typeface="Times New Roman" panose="02020603050405020304" pitchFamily="18" charset="0"/>
                <a:cs typeface="Times New Roman" panose="02020603050405020304" pitchFamily="18" charset="0"/>
                <a:hlinkClick r:id="rId3"/>
              </a:rPr>
              <a:t>http://www.rotaryteach.com</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OSAAT (One School At A Time): </a:t>
            </a:r>
            <a:r>
              <a:rPr lang="en-US" sz="2000" dirty="0">
                <a:latin typeface="Times New Roman" panose="02020603050405020304" pitchFamily="18" charset="0"/>
                <a:cs typeface="Times New Roman" panose="02020603050405020304" pitchFamily="18" charset="0"/>
                <a:hlinkClick r:id="rId4"/>
              </a:rPr>
              <a:t>https://osaat.org</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Wikipedia: </a:t>
            </a:r>
            <a:r>
              <a:rPr lang="en-US" sz="2000" dirty="0">
                <a:latin typeface="Times New Roman" panose="02020603050405020304" pitchFamily="18" charset="0"/>
                <a:cs typeface="Times New Roman" panose="02020603050405020304" pitchFamily="18" charset="0"/>
                <a:hlinkClick r:id="rId5"/>
              </a:rPr>
              <a:t>https://en.wikipedia.org</a:t>
            </a: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3796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617B9-9072-47F0-8DD9-3CACA671B0C0}"/>
              </a:ext>
            </a:extLst>
          </p:cNvPr>
          <p:cNvSpPr>
            <a:spLocks noGrp="1"/>
          </p:cNvSpPr>
          <p:nvPr>
            <p:ph type="title"/>
          </p:nvPr>
        </p:nvSpPr>
        <p:spPr>
          <a:xfrm>
            <a:off x="838200" y="2766218"/>
            <a:ext cx="10515600" cy="1325563"/>
          </a:xfrm>
        </p:spPr>
        <p:txBody>
          <a:bodyPr>
            <a:normAutofit/>
          </a:bodyPr>
          <a:lstStyle/>
          <a:p>
            <a:pPr algn="ctr"/>
            <a:r>
              <a:rPr lang="en-IN" sz="48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2838763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543</TotalTime>
  <Words>1341</Words>
  <Application>Microsoft Office PowerPoint</Application>
  <PresentationFormat>Widescreen</PresentationFormat>
  <Paragraphs>176</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Post Covid Learning Assessment of 4000 children across 4 states (June – July 2022)</vt:lpstr>
      <vt:lpstr>Purpose and Scope</vt:lpstr>
      <vt:lpstr>Methodology</vt:lpstr>
      <vt:lpstr>Basic Information about the children’s profile</vt:lpstr>
      <vt:lpstr>Name of the Location</vt:lpstr>
      <vt:lpstr>Child Coverage</vt:lpstr>
      <vt:lpstr>PowerPoint Presentation</vt:lpstr>
      <vt:lpstr>Child Coverage Caste vs. State</vt:lpstr>
      <vt:lpstr>Drop out status</vt:lpstr>
      <vt:lpstr>Educational Status of Respective States</vt:lpstr>
      <vt:lpstr>PowerPoint Presentation</vt:lpstr>
      <vt:lpstr>Dropout Percentage against Gender and Age</vt:lpstr>
      <vt:lpstr>Average Compatibility level vs. Age Appropriate Class</vt:lpstr>
      <vt:lpstr>Learning Level</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 Covid Learning Assessment of 4000 children across 4 states June – July 2022</dc:title>
  <dc:creator>Rupsa Dawn</dc:creator>
  <cp:lastModifiedBy>Rupsa Dawn</cp:lastModifiedBy>
  <cp:revision>7</cp:revision>
  <dcterms:created xsi:type="dcterms:W3CDTF">2023-06-20T09:46:48Z</dcterms:created>
  <dcterms:modified xsi:type="dcterms:W3CDTF">2026-09-11T15:38:56Z</dcterms:modified>
</cp:coreProperties>
</file>